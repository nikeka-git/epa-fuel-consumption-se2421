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ca6a03f0f9b4a54" /><Relationship Type="http://schemas.openxmlformats.org/officeDocument/2006/relationships/extended-properties" Target="/docProps/app.xml" Id="R4d42185ecae24c24" /><Relationship Type="http://schemas.openxmlformats.org/officeDocument/2006/relationships/officeDocument" Target="/ppt/presentation.xml" Id="R8b2b9492ee904ef3" /></Relationships>
</file>

<file path=ppt/presentation.xml><?xml version="1.0" encoding="utf-8"?>
<p:presentation xmlns:p="http://schemas.openxmlformats.org/presentationml/2006/main">
  <p:sldMasterIdLst>
    <p:sldMasterId xmlns:r="http://schemas.openxmlformats.org/officeDocument/2006/relationships" id="2147483648" r:id="R66ea8ea1fe7b4a1f"/>
  </p:sldMasterIdLst>
  <p:notesMasterIdLst>
    <p:notesMasterId xmlns:r="http://schemas.openxmlformats.org/officeDocument/2006/relationships" r:id="R60056ad531df4f17"/>
  </p:notesMasterIdLst>
  <p:sldIdLst>
    <p:sldId xmlns:r="http://schemas.openxmlformats.org/officeDocument/2006/relationships" id="256" r:id="Rc2e2df561e9747a0"/>
    <p:sldId xmlns:r="http://schemas.openxmlformats.org/officeDocument/2006/relationships" id="257" r:id="Re613d93f38724b40"/>
    <p:sldId xmlns:r="http://schemas.openxmlformats.org/officeDocument/2006/relationships" id="258" r:id="R214434b53b874d85"/>
    <p:sldId xmlns:r="http://schemas.openxmlformats.org/officeDocument/2006/relationships" id="259" r:id="R58b5944b391849a0"/>
    <p:sldId xmlns:r="http://schemas.openxmlformats.org/officeDocument/2006/relationships" id="260" r:id="R8fd3366a271544ef"/>
    <p:sldId xmlns:r="http://schemas.openxmlformats.org/officeDocument/2006/relationships" id="261" r:id="Rb2d6d01fde9d4a8c"/>
    <p:sldId xmlns:r="http://schemas.openxmlformats.org/officeDocument/2006/relationships" id="262" r:id="R90b740b49f594257"/>
    <p:sldId xmlns:r="http://schemas.openxmlformats.org/officeDocument/2006/relationships" id="263" r:id="R3c904a5f19074f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553208e8694199" /><Relationship Type="http://schemas.openxmlformats.org/officeDocument/2006/relationships/slideMaster" Target="/ppt/slideMasters/slideMaster1.xml" Id="R66ea8ea1fe7b4a1f" /><Relationship Type="http://schemas.openxmlformats.org/officeDocument/2006/relationships/notesMaster" Target="/ppt/notesMasters/notesMaster1.xml" Id="R60056ad531df4f17" /><Relationship Type="http://schemas.openxmlformats.org/officeDocument/2006/relationships/presProps" Target="/ppt/presProps.xml" Id="R662a683b33cc45a4" /><Relationship Type="http://schemas.openxmlformats.org/officeDocument/2006/relationships/tableStyles" Target="/ppt/tableStyles.xml" Id="R3b6848279599423d" /><Relationship Type="http://schemas.openxmlformats.org/officeDocument/2006/relationships/slide" Target="/ppt/slides/slide1.xml" Id="Rc2e2df561e9747a0" /><Relationship Type="http://schemas.openxmlformats.org/officeDocument/2006/relationships/slide" Target="/ppt/slides/slide2.xml" Id="Re613d93f38724b40" /><Relationship Type="http://schemas.openxmlformats.org/officeDocument/2006/relationships/slide" Target="/ppt/slides/slide3.xml" Id="R214434b53b874d85" /><Relationship Type="http://schemas.openxmlformats.org/officeDocument/2006/relationships/slide" Target="/ppt/slides/slide4.xml" Id="R58b5944b391849a0" /><Relationship Type="http://schemas.openxmlformats.org/officeDocument/2006/relationships/slide" Target="/ppt/slides/slide5.xml" Id="R8fd3366a271544ef" /><Relationship Type="http://schemas.openxmlformats.org/officeDocument/2006/relationships/slide" Target="/ppt/slides/slide6.xml" Id="Rb2d6d01fde9d4a8c" /><Relationship Type="http://schemas.openxmlformats.org/officeDocument/2006/relationships/slide" Target="/ppt/slides/slide7.xml" Id="R90b740b49f594257" /><Relationship Type="http://schemas.openxmlformats.org/officeDocument/2006/relationships/slide" Target="/ppt/slides/slide8.xml" Id="R3c904a5f19074f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95c915377a44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bf935ee6084192" /><Relationship Type="http://schemas.openxmlformats.org/officeDocument/2006/relationships/notesMaster" Target="/ppt/notesMasters/notesMaster1.xml" Id="R5ad97d4e8f3144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6b4a805ccc49e0" /><Relationship Type="http://schemas.openxmlformats.org/officeDocument/2006/relationships/notesMaster" Target="/ppt/notesMasters/notesMaster1.xml" Id="R67e2e9f4aa0c4e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b75610b0f44bde" /><Relationship Type="http://schemas.openxmlformats.org/officeDocument/2006/relationships/notesMaster" Target="/ppt/notesMasters/notesMaster1.xml" Id="R8026899d2aa14d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a65286042e4ef5" /><Relationship Type="http://schemas.openxmlformats.org/officeDocument/2006/relationships/notesMaster" Target="/ppt/notesMasters/notesMaster1.xml" Id="R974469432d174b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b617de2d42472d" /><Relationship Type="http://schemas.openxmlformats.org/officeDocument/2006/relationships/notesMaster" Target="/ppt/notesMasters/notesMaster1.xml" Id="R47af1440afc341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bf4fb6b9a64058" /><Relationship Type="http://schemas.openxmlformats.org/officeDocument/2006/relationships/notesMaster" Target="/ppt/notesMasters/notesMaster1.xml" Id="R95a49f8192c748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474048a2ab479a" /><Relationship Type="http://schemas.openxmlformats.org/officeDocument/2006/relationships/notesMaster" Target="/ppt/notesMasters/notesMaster1.xml" Id="R5ddc3fc7499241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d80336ef394938" /><Relationship Type="http://schemas.openxmlformats.org/officeDocument/2006/relationships/notesMaster" Target="/ppt/notesMasters/notesMaster1.xml" Id="R8b07c081720d4e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55 seconds.</a:t>
            </a:r>
          </a:p>
          <a:p xmlns:a="http://schemas.openxmlformats.org/drawingml/2006/main">
            <a:r>
              <a:t/>
            </a:r>
          </a:p>
          <a:p xmlns:a="http://schemas.openxmlformats.org/drawingml/2006/main">
            <a:r>
              <a:t>Our project asks whether ordinary technical specifications can predict EPA estimated combined fuel consumption. The response is litres per 100 kilometres, which is easier to interpret as consumption than miles per gallon. The source describes vehicle configurations, not private people or individual sold cars. We focus on gasoline cars and SUVs from the US catalogue for model years 2015 through 2025. We collect individual records with our own Python code through the documented FuelEconomy.gov API. The practical use is comparing the expected consumption associated with different specifications. We evaluate predictive association rather than claiming that one characteristic causes a particular level of consumption. The current benchmark contains 3,247 retained configurations.</a:t>
            </a:r>
          </a:p>
          <a:p xmlns:a="http://schemas.openxmlformats.org/drawingml/2006/main">
            <a:r>
              <a:t/>
            </a:r>
          </a:p>
          <a:p xmlns:a="http://schemas.openxmlformats.org/drawingml/2006/main">
            <a:r>
              <a:t>Sources: https://www.fueleconomy.gov/feg/ws/index.shtml</a:t>
            </a:r>
          </a:p>
          <a:p xmlns:a="http://schemas.openxmlformats.org/drawingml/2006/main">
            <a:r>
              <a:t>docs/DATA_CONTRACT.md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70 seconds.</a:t>
            </a:r>
          </a:p>
          <a:p xmlns:a="http://schemas.openxmlformats.org/drawingml/2006/main">
            <a:r>
              <a:t/>
            </a:r>
          </a:p>
          <a:p xmlns:a="http://schemas.openxmlformats.org/drawingml/2006/main">
            <a:r>
              <a:t>The collection retrieves year, manufacturer, model and option menus before requesting each individual vehicle record. We preserve raw bytes, dates and checksums so another person can inspect the source and reproduce cleaning. The downloaded count and cleaned count are different quantities. We exclude unsupported fuel types, secondary fuels, hybrids including mild hybrids, classes outside our declared cars and SUV scope, invalid targets and insufficient or invalid engine specifications. Start-stop alone is not a hybrid indicator. We keep missing values for individual optional predictors, because the training pipeline can impute them. We form duplicate candidates without using the target and remove only confirmed duplicate configurations. 4,500 records produce 3,247 retained rows after 1,253 exclusions and 0 duplicate removals. This bounded sample is not a completed census and does not estimate the mix of vehicles sold. EPA comb08 uses US gallons. We convert it with a fixed factor and never impute the target or silently replace it with comb08U.</a:t>
            </a:r>
          </a:p>
          <a:p xmlns:a="http://schemas.openxmlformats.org/drawingml/2006/main">
            <a:r>
              <a:t/>
            </a:r>
          </a:p>
          <a:p xmlns:a="http://schemas.openxmlformats.org/drawingml/2006/main">
            <a:r>
              <a:t>Sources: data/interim/cleaned_summary.json</a:t>
            </a:r>
          </a:p>
          <a:p xmlns:a="http://schemas.openxmlformats.org/drawingml/2006/main">
            <a:r>
              <a:t>data/interim/cleaning_summary.csv</a:t>
            </a:r>
          </a:p>
          <a:p xmlns:a="http://schemas.openxmlformats.org/drawingml/2006/main">
            <a:r>
              <a:t>raw snapshot.json</a:t>
            </a:r>
          </a:p>
          <a:p xmlns:a="http://schemas.openxmlformats.org/drawingml/2006/main">
            <a:r>
              <a:t>docs/DATA_CONTRACT.md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65 seconds.</a:t>
            </a:r>
          </a:p>
          <a:p xmlns:a="http://schemas.openxmlformats.org/drawingml/2006/main">
            <a:r>
              <a:t/>
            </a:r>
          </a:p>
          <a:p xmlns:a="http://schemas.openxmlformats.org/drawingml/2006/main">
            <a:r>
              <a:t>These editable charts use only the training rows from the saved split. The left chart groups engine displacement into predeclared intervals of zero to two litres, over two to three, over three to four and over four litres. Labels show the number of observations supporting each mean. The right chart combines the API vehicle classes into cars, station wagons and SUVs for readable comparison. The notebook retains the detailed class breakdown and target distribution. We describe these observed differences as predictive associations. We do not remove inconvenient high-consumption vehicles or change bins after looking at the test errors. Configuration counts give no information about sales volume. The number of rows in a group also matters because a mean based on a few rare vehicles may be unstable. The plots motivate comparison of a linear model with methods that can capture local patterns and nonlinear thresholds.</a:t>
            </a:r>
          </a:p>
          <a:p xmlns:a="http://schemas.openxmlformats.org/drawingml/2006/main">
            <a:r>
              <a:t/>
            </a:r>
          </a:p>
          <a:p xmlns:a="http://schemas.openxmlformats.org/drawingml/2006/main">
            <a:r>
              <a:t>Sources: frozen split_manifest.csv</a:t>
            </a:r>
          </a:p>
          <a:p xmlns:a="http://schemas.openxmlformats.org/drawingml/2006/main">
            <a:r>
              <a:t>training rows of vehicles.parquet</a:t>
            </a:r>
          </a:p>
          <a:p xmlns:a="http://schemas.openxmlformats.org/drawingml/2006/main">
            <a:r>
              <a:t>notebooks/01_midterm.ipynb</a:t>
            </a:r>
          </a:p>
          <a:p xmlns:a="http://schemas.openxmlformats.org/drawingml/2006/main">
            <a:r>
              <a:t>docs/EXPERIMENT_PROTOCOL.md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60 seconds.</a:t>
            </a:r>
          </a:p>
          <a:p xmlns:a="http://schemas.openxmlformats.org/drawingml/2006/main">
            <a:r>
              <a:t/>
            </a:r>
          </a:p>
          <a:p xmlns:a="http://schemas.openxmlformats.org/drawingml/2006/main">
            <a:r>
              <a:t>All four Midterm models use the same seven predictors. Model year, displacement and cylinder count are numeric. Manufacturer, transmission, drivetrain and vehicle class are categorical. A strict allowlist prevents the estimator from seeing any other raw columns. We specifically exclude other fuel economy values, fuel costs, emissions and efficiency scores because they can reveal the answer. Identifiers, base model, source dates and group labels also stay outside the predictors. We preserve model names and engine description for Final, but the current models do not use them. Preprocessing is part of the saved pipeline. Within each training fold, we fit numeric median imputation, missing indicators and scaling, then categorical imputation and one-hot encoding with unknown categories allowed. Validation and test rows use those already fitted transformations. This prevents information from validation or test rows from influencing imputation or encoding.</a:t>
            </a:r>
          </a:p>
          <a:p xmlns:a="http://schemas.openxmlformats.org/drawingml/2006/main">
            <a:r>
              <a:t/>
            </a:r>
          </a:p>
          <a:p xmlns:a="http://schemas.openxmlformats.org/drawingml/2006/main">
            <a:r>
              <a:t>Sources: src/fuel_consumption/features.py</a:t>
            </a:r>
          </a:p>
          <a:p xmlns:a="http://schemas.openxmlformats.org/drawingml/2006/main">
            <a:r>
              <a:t>configs/project.json</a:t>
            </a:r>
          </a:p>
          <a:p xmlns:a="http://schemas.openxmlformats.org/drawingml/2006/main">
            <a:r>
              <a:t>docs/EXPERIMENT_PROTOCOL.md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75 seconds.</a:t>
            </a:r>
          </a:p>
          <a:p xmlns:a="http://schemas.openxmlformats.org/drawingml/2006/main">
            <a:r>
              <a:t/>
            </a:r>
          </a:p>
          <a:p xmlns:a="http://schemas.openxmlformats.org/drawingml/2006/main">
            <a:r>
              <a:t>We evaluate transfer to vehicle families that do not appear in training. A family combines manufacturer and base model, with audited full model-name fallbacks when necessary. We keep a family together across model years. The fixed GroupShuffleSplit assigns twenty percent of groups to test with seed forty-two, so the test share of rows need not equal twenty percent. The saved manifest contains 2,628 training rows in 311 families and 619 test rows in 78 families. Five grouped cross-validation folds use training data only, with zero family overlap between fitting and validation. We do not search for a seed with convenient results. The four models include a median dummy baseline and three regressors confirmed in the supplied Week Three and Four lectures. We choose the model by mean CV MAE before calculating test predictions. These are fixed starting parameters rather than tuned optima. Endterm tuning will use grouped training CV, while the course keeps the same test split for comparison.</a:t>
            </a:r>
          </a:p>
          <a:p xmlns:a="http://schemas.openxmlformats.org/drawingml/2006/main">
            <a:r>
              <a:t/>
            </a:r>
          </a:p>
          <a:p xmlns:a="http://schemas.openxmlformats.org/drawingml/2006/main">
            <a:r>
              <a:t>Sources: split_metadata.json</a:t>
            </a:r>
          </a:p>
          <a:p xmlns:a="http://schemas.openxmlformats.org/drawingml/2006/main">
            <a:r>
              <a:t>group_alias_audit.csv</a:t>
            </a:r>
          </a:p>
          <a:p xmlns:a="http://schemas.openxmlformats.org/drawingml/2006/main">
            <a:r>
              <a:t>references/Lecture_3.pdf, PDF pages 28, 32, 35–37</a:t>
            </a:r>
          </a:p>
          <a:p xmlns:a="http://schemas.openxmlformats.org/drawingml/2006/main">
            <a:r>
              <a:t>references/Lecture_4.pdf, PDF pages 15, 25, 28, 40</a:t>
            </a:r>
          </a:p>
          <a:p xmlns:a="http://schemas.openxmlformats.org/drawingml/2006/main">
            <a:r>
              <a:t>docs/EXPERIMENT_PROTOCOL.md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75 seconds.</a:t>
            </a:r>
          </a:p>
          <a:p xmlns:a="http://schemas.openxmlformats.org/drawingml/2006/main">
            <a:r>
              <a:t/>
            </a:r>
          </a:p>
          <a:p xmlns:a="http://schemas.openxmlformats.org/drawingml/2006/main">
            <a:r>
              <a:t>The table reports every predefined model on the same data and split. MAE and RMSE use litres per one hundred kilometres, and lower values indicate smaller errors. CV MAE is the mean of five positive fold values. The reported standard deviation describes their spread and is not a confidence interval. R-squared is a relative explanatory measure and is not a percentage of correctly predicted vehicles. The selected model is Linear regression, based on its saved training CV MAE of 0.813 with standard deviation 0.120. Its test MAE is 0.714, compared with 2.597 for the median baseline. That difference corresponds to 72.5 percent lower test MAE. We did not use the test values to change the model selection or hyperparameters. The results apply to this bounded benchmark and held-out families under the declared protocol.</a:t>
            </a:r>
          </a:p>
          <a:p xmlns:a="http://schemas.openxmlformats.org/drawingml/2006/main">
            <a:r>
              <a:t/>
            </a:r>
          </a:p>
          <a:p xmlns:a="http://schemas.openxmlformats.org/drawingml/2006/main">
            <a:r>
              <a:t>Sources: saved metrics.csv</a:t>
            </a:r>
          </a:p>
          <a:p xmlns:a="http://schemas.openxmlformats.org/drawingml/2006/main">
            <a:r>
              <a:t>saved cv_selection.json</a:t>
            </a:r>
          </a:p>
          <a:p xmlns:a="http://schemas.openxmlformats.org/drawingml/2006/main">
            <a:r>
              <a:t>saved fold_metrics.csv</a:t>
            </a:r>
          </a:p>
          <a:p xmlns:a="http://schemas.openxmlformats.org/drawingml/2006/main">
            <a:r>
              <a:t>docs/EXPERIMENT_PROTOCOL.md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80 seconds.</a:t>
            </a:r>
          </a:p>
          <a:p xmlns:a="http://schemas.openxmlformats.org/drawingml/2006/main">
            <a:r>
              <a:t/>
            </a:r>
          </a:p>
          <a:p xmlns:a="http://schemas.openxmlformats.org/drawingml/2006/main">
            <a:r>
              <a:t>Overall MAE can hide different errors across vehicle classes and engine sizes. These are descriptive test diagnostics for the model chosen earlier by training CV. The table shows up to five classes with the largest test MAE and preserves their observation counts. The chart shows test MAE in the predeclared displacement intervals. We flag groups with fewer than thirty observations as having limited support and avoid claiming a stable ranking of reliability from a small group. Bias means prediction minus actual, so positive bias indicates that the model overestimates consumption. One real large-error example is the 2017 Aston Martin V12 Vantage S, source ID 38135. Its actual converted EPA consumption is 19.60, the prediction is 15.97, and the absolute error is 3.63 litres per one hundred kilometres. Missing predictors such as vehicle mass or power may explain some differences, but this is a hypothesis. Endterm choices must use training out-of-fold diagnostics rather than tuning to these test examples.</a:t>
            </a:r>
          </a:p>
          <a:p xmlns:a="http://schemas.openxmlformats.org/drawingml/2006/main">
            <a:r>
              <a:t/>
            </a:r>
          </a:p>
          <a:p xmlns:a="http://schemas.openxmlformats.org/drawingml/2006/main">
            <a:r>
              <a:t>Sources: saved subgroup_errors.csv</a:t>
            </a:r>
          </a:p>
          <a:p xmlns:a="http://schemas.openxmlformats.org/drawingml/2006/main">
            <a:r>
              <a:t>saved large_errors.csv</a:t>
            </a:r>
          </a:p>
          <a:p xmlns:a="http://schemas.openxmlformats.org/drawingml/2006/main">
            <a:r>
              <a:t>docs/EXPERIMENT_PROTOCOL.md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80 seconds.</a:t>
            </a:r>
          </a:p>
          <a:p xmlns:a="http://schemas.openxmlformats.org/drawingml/2006/main">
            <a:r>
              <a:t/>
            </a:r>
          </a:p>
          <a:p xmlns:a="http://schemas.openxmlformats.org/drawingml/2006/main">
            <a:r>
              <a:t>The selected model achieves a test MAE of 0.714 litres per one hundred kilometres on this saved benchmark. It improves on the median baseline, but we should interpret that result within the collection and evaluation limits. EPA estimates differ from an individual driver’s realised consumption, and the original combined miles-per-gallon field is rounded. The bounded catalogue sample has unequal inclusion probabilities and no sales weighting. The grouped protocol examines unseen vehicle families within the sampled years rather than predicting future model years.  At Endterm we plan ensemble tuning through grouped training validation, descriptive clustering and dimensionality reduction, and a neural network. At Final we plan controlled comparisons of structured features with model names and engine description text on the same split, followed by a local prediction application. Project areas: Nikita, data collection. Bakytzhan, modeling and analysis. OpenAI Codex assisted with code, collection and analysis artifacts, documentation and presentation drafts. AI assistance is documented in docs/CONTRIBUTIONS.md.</a:t>
            </a:r>
          </a:p>
          <a:p xmlns:a="http://schemas.openxmlformats.org/drawingml/2006/main">
            <a:r>
              <a:t/>
            </a:r>
          </a:p>
          <a:p xmlns:a="http://schemas.openxmlformats.org/drawingml/2006/main">
            <a:r>
              <a:t>Sources: docs/DATA_CARD.md</a:t>
            </a:r>
          </a:p>
          <a:p xmlns:a="http://schemas.openxmlformats.org/drawingml/2006/main">
            <a:r>
              <a:t>docs/CONTRIBUTIONS.md</a:t>
            </a:r>
          </a:p>
          <a:p xmlns:a="http://schemas.openxmlformats.org/drawingml/2006/main">
            <a:r>
              <a:t>docs/PROJECT_PLAN.md</a:t>
            </a:r>
          </a:p>
          <a:p xmlns:a="http://schemas.openxmlformats.org/drawingml/2006/main">
            <a:r>
              <a:t>references/Project_Guide.pdf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0cb4af0e8f44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b712968658403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55a7fa5ec9649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bdd33e800ed480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3ee584a3704d3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dcb19fdaabb4c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7271FB-B940-486B-A9BA-37BF220E126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FB1738C-8CD8-48B8-AD20-B804959961C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ED05196-5352-46D7-A6C3-5A9122EACD0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894F8F-5004-4FA4-B58D-520B9329A8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FFE5F36-25A3-4909-B964-7FD3EB10A15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D884638-1195-4221-93FD-C8795886AE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65FAA96-ECA6-4C9B-AFDF-CCEFD343B6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90A682F-2311-4890-8A62-808547F42DC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36568E-AE07-4BE8-A7EC-F46F318D09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5B6FF5-E6A5-46A5-A063-A8B9499C1D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9427ec05a7431b" /><Relationship Type="http://schemas.openxmlformats.org/officeDocument/2006/relationships/slideLayout" Target="/ppt/slideLayouts/slideLayout1.xml" Id="Rc95a79fdda6849a5" /><Relationship Type="http://schemas.openxmlformats.org/officeDocument/2006/relationships/slideLayout" Target="/ppt/slideLayouts/slideLayout2.xml" Id="R5e6d0f8da2ff4324" /><Relationship Type="http://schemas.openxmlformats.org/officeDocument/2006/relationships/slideLayout" Target="/ppt/slideLayouts/slideLayout3.xml" Id="Rc00e4b0a14c34ee9" /><Relationship Type="http://schemas.openxmlformats.org/officeDocument/2006/relationships/slideLayout" Target="/ppt/slideLayouts/slideLayout4.xml" Id="R1b7b94c402c545e7" /><Relationship Type="http://schemas.openxmlformats.org/officeDocument/2006/relationships/slideLayout" Target="/ppt/slideLayouts/slideLayout5.xml" Id="R7c40084b22024674" /><Relationship Type="http://schemas.openxmlformats.org/officeDocument/2006/relationships/slideLayout" Target="/ppt/slideLayouts/slideLayout6.xml" Id="R687551fd24264d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5a79fdda6849a5"/>
    <p:sldLayoutId xmlns:r="http://schemas.openxmlformats.org/officeDocument/2006/relationships" id="2147483650" r:id="R5e6d0f8da2ff4324"/>
    <p:sldLayoutId xmlns:r="http://schemas.openxmlformats.org/officeDocument/2006/relationships" id="2147483651" r:id="Rc00e4b0a14c34ee9"/>
    <p:sldLayoutId xmlns:r="http://schemas.openxmlformats.org/officeDocument/2006/relationships" id="2147483652" r:id="R1b7b94c402c545e7"/>
    <p:sldLayoutId xmlns:r="http://schemas.openxmlformats.org/officeDocument/2006/relationships" id="2147483653" r:id="R7c40084b22024674"/>
    <p:sldLayoutId xmlns:r="http://schemas.openxmlformats.org/officeDocument/2006/relationships" id="2147483654" r:id="R687551fd24264d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ef82f438e254c0f" /><Relationship Type="http://schemas.openxmlformats.org/officeDocument/2006/relationships/notesSlide" Target="/ppt/notesSlides/notesSlide1.xml" Id="R0e55448d50904c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dd908db95874eea" /><Relationship Type="http://schemas.openxmlformats.org/officeDocument/2006/relationships/notesSlide" Target="/ppt/notesSlides/notesSlide2.xml" Id="Reefa9472d58d46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798f7cb37f3452d" /><Relationship Type="http://schemas.openxmlformats.org/officeDocument/2006/relationships/chart" Target="/ppt/slides/charts/chart1.xml" Id="R3adb5ac1e48c4360" /><Relationship Type="http://schemas.openxmlformats.org/officeDocument/2006/relationships/chart" Target="/ppt/slides/charts/chart2.xml" Id="Rbb0642cd76044663" /><Relationship Type="http://schemas.openxmlformats.org/officeDocument/2006/relationships/notesSlide" Target="/ppt/notesSlides/notesSlide3.xml" Id="R7c9de24650084f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0a354afbac64157" /><Relationship Type="http://schemas.openxmlformats.org/officeDocument/2006/relationships/notesSlide" Target="/ppt/notesSlides/notesSlide4.xml" Id="Rf78c9a73d27a47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ae86b1a0c624b4d" /><Relationship Type="http://schemas.openxmlformats.org/officeDocument/2006/relationships/notesSlide" Target="/ppt/notesSlides/notesSlide5.xml" Id="Ra27e7f1006f14a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f7ca62063194c9c" /><Relationship Type="http://schemas.openxmlformats.org/officeDocument/2006/relationships/chart" Target="/ppt/slides/charts/chart3.xml" Id="Rd22778b3ff914f05" /><Relationship Type="http://schemas.openxmlformats.org/officeDocument/2006/relationships/notesSlide" Target="/ppt/notesSlides/notesSlide6.xml" Id="Re4c03151f0e948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b0669b68e3a4d8e" /><Relationship Type="http://schemas.openxmlformats.org/officeDocument/2006/relationships/chart" Target="/ppt/slides/charts/chart4.xml" Id="Rd99e967226ef431e" /><Relationship Type="http://schemas.openxmlformats.org/officeDocument/2006/relationships/notesSlide" Target="/ppt/notesSlides/notesSlide7.xml" Id="R87e4d74646b24f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a9a620dd7bc42f9" /><Relationship Type="http://schemas.openxmlformats.org/officeDocument/2006/relationships/notesSlide" Target="/ppt/notesSlides/notesSlide8.xml" Id="R74e2c1f5f4a24ea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b="1">
                <a:solidFill>
                  <a:srgbClr val="102238"/>
                </a:solidFill>
                <a:latin typeface="Arial"/>
                <a:ea typeface="Arial"/>
                <a:cs typeface="Arial"/>
              </a:rPr>
              <a:t>Consumption by engine size</a:t>
            </a:r>
          </a:p>
        </c:rich>
      </c:tx>
      <c:overlay val="0"/>
      <c:txPr>
        <a:bodyPr xmlns:a="http://schemas.openxmlformats.org/drawingml/2006/main" anchorCtr="1"/>
        <a:lstStyle xmlns:a="http://schemas.openxmlformats.org/drawingml/2006/main"/>
        <a:p xmlns:a="http://schemas.openxmlformats.org/drawingml/2006/main">
          <a:pPr>
            <a:defRPr sz="2025" b="1">
              <a:solidFill>
                <a:srgbClr val="102238"/>
              </a:solidFill>
              <a:latin typeface="Arial"/>
              <a:ea typeface="Arial"/>
              <a:cs typeface="Arial"/>
            </a:defRPr>
          </a:pPr>
        </a:p>
      </c:txPr>
    </c:title>
    <c:plotArea>
      <c:barChart>
        <c:barDir val="col"/>
        <c:grouping val="clustered"/>
        <c:varyColors val="0"/>
        <c:ser>
          <c:idx val="0"/>
          <c:order val="0"/>
          <c:tx>
            <c:v>L/100 km</c:v>
          </c:tx>
          <c:spPr>
            <a:solidFill xmlns:a="http://schemas.openxmlformats.org/drawingml/2006/main">
              <a:srgbClr val="087D9A"/>
            </a:solidFill>
          </c:spPr>
          <c:cat>
            <c:strRef>
              <c:f>'Chart Data'!$A$2:$A$5</c:f>
              <c:strCache>
                <c:ptCount val="4"/>
                <c:pt idx="0">
                  <c:v>0–2 L
n=881</c:v>
                </c:pt>
                <c:pt idx="1">
                  <c:v>2–3 L
n=694</c:v>
                </c:pt>
                <c:pt idx="2">
                  <c:v>3–4 L
n=600</c:v>
                </c:pt>
                <c:pt idx="3">
                  <c:v>&gt;4 L
n=453</c:v>
                </c:pt>
              </c:strCache>
            </c:strRef>
          </c:cat>
          <c:val>
            <c:numRef>
              <c:f>'Chart Data'!$B$2:$B$5</c:f>
              <c:numCache>
                <c:formatCode>0.00</c:formatCode>
                <c:ptCount val="4"/>
                <c:pt idx="0">
                  <c:v>8.8151559501</c:v>
                </c:pt>
                <c:pt idx="1">
                  <c:v>10.528684348</c:v>
                </c:pt>
                <c:pt idx="2">
                  <c:v>11.9459957605</c:v>
                </c:pt>
                <c:pt idx="3">
                  <c:v>15.6034387189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02238"/>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AE3E8"/>
            </a:solidFill>
          </a:ln>
        </c:spPr>
        <c:txPr>
          <a:bodyPr xmlns:a="http://schemas.openxmlformats.org/drawingml/2006/main" anchorCtr="1"/>
          <a:lstStyle xmlns:a="http://schemas.openxmlformats.org/drawingml/2006/main"/>
          <a:p xmlns:a="http://schemas.openxmlformats.org/drawingml/2006/main">
            <a:pPr>
              <a:defRPr sz="1725">
                <a:solidFill>
                  <a:srgbClr val="526579"/>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AE3E8"/>
              </a:solidFill>
              <a:prstDash val="solid"/>
            </a:ln>
          </c:spPr>
        </c:majorGridlines>
        <c:title>
          <c:tx>
            <c:rich>
              <a:bodyPr xmlns:a="http://schemas.openxmlformats.org/drawingml/2006/main"/>
              <a:lstStyle xmlns:a="http://schemas.openxmlformats.org/drawingml/2006/main"/>
              <a:p xmlns:a="http://schemas.openxmlformats.org/drawingml/2006/main">
                <a:r>
                  <a:rPr sz="1725">
                    <a:solidFill>
                      <a:srgbClr val="526579"/>
                    </a:solidFill>
                    <a:latin typeface="Arial"/>
                    <a:ea typeface="Arial"/>
                    <a:cs typeface="Arial"/>
                  </a:rPr>
                  <a:t>L/100 km</a:t>
                </a:r>
              </a:p>
            </c:rich>
          </c:tx>
          <c:overlay val="0"/>
          <c:txPr>
            <a:bodyPr xmlns:a="http://schemas.openxmlformats.org/drawingml/2006/main" anchorCtr="1"/>
            <a:lstStyle xmlns:a="http://schemas.openxmlformats.org/drawingml/2006/main"/>
            <a:p xmlns:a="http://schemas.openxmlformats.org/drawingml/2006/main">
              <a:pPr>
                <a:defRPr sz="1725">
                  <a:solidFill>
                    <a:srgbClr val="526579"/>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265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b="1">
                <a:solidFill>
                  <a:srgbClr val="102238"/>
                </a:solidFill>
                <a:latin typeface="Arial"/>
                <a:ea typeface="Arial"/>
                <a:cs typeface="Arial"/>
              </a:rPr>
              <a:t>Consumption by class family</a:t>
            </a:r>
          </a:p>
        </c:rich>
      </c:tx>
      <c:overlay val="0"/>
      <c:txPr>
        <a:bodyPr xmlns:a="http://schemas.openxmlformats.org/drawingml/2006/main" anchorCtr="1"/>
        <a:lstStyle xmlns:a="http://schemas.openxmlformats.org/drawingml/2006/main"/>
        <a:p xmlns:a="http://schemas.openxmlformats.org/drawingml/2006/main">
          <a:pPr>
            <a:defRPr sz="2025" b="1">
              <a:solidFill>
                <a:srgbClr val="102238"/>
              </a:solidFill>
              <a:latin typeface="Arial"/>
              <a:ea typeface="Arial"/>
              <a:cs typeface="Arial"/>
            </a:defRPr>
          </a:pPr>
        </a:p>
      </c:txPr>
    </c:title>
    <c:plotArea>
      <c:barChart>
        <c:barDir val="col"/>
        <c:grouping val="clustered"/>
        <c:varyColors val="0"/>
        <c:ser>
          <c:idx val="0"/>
          <c:order val="0"/>
          <c:tx>
            <c:v>L/100 km</c:v>
          </c:tx>
          <c:spPr>
            <a:solidFill xmlns:a="http://schemas.openxmlformats.org/drawingml/2006/main">
              <a:srgbClr val="087D9A"/>
            </a:solidFill>
          </c:spPr>
          <c:cat>
            <c:strRef>
              <c:f>'Chart Data'!$A$2:$A$4</c:f>
              <c:strCache>
                <c:ptCount val="3"/>
                <c:pt idx="0">
                  <c:v>Cars
n=1493</c:v>
                </c:pt>
                <c:pt idx="1">
                  <c:v>SUV
n=1023</c:v>
                </c:pt>
                <c:pt idx="2">
                  <c:v>Station wagons
n=112</c:v>
                </c:pt>
              </c:strCache>
            </c:strRef>
          </c:cat>
          <c:val>
            <c:numRef>
              <c:f>'Chart Data'!$B$2:$B$4</c:f>
              <c:numCache>
                <c:formatCode>0.00</c:formatCode>
                <c:ptCount val="3"/>
                <c:pt idx="0">
                  <c:v>11.2973028247</c:v>
                </c:pt>
                <c:pt idx="1">
                  <c:v>11.1667241618</c:v>
                </c:pt>
                <c:pt idx="2">
                  <c:v>9.0944874183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02238"/>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AE3E8"/>
            </a:solidFill>
          </a:ln>
        </c:spPr>
        <c:txPr>
          <a:bodyPr xmlns:a="http://schemas.openxmlformats.org/drawingml/2006/main" anchorCtr="1"/>
          <a:lstStyle xmlns:a="http://schemas.openxmlformats.org/drawingml/2006/main"/>
          <a:p xmlns:a="http://schemas.openxmlformats.org/drawingml/2006/main">
            <a:pPr>
              <a:defRPr sz="1725">
                <a:solidFill>
                  <a:srgbClr val="526579"/>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AE3E8"/>
              </a:solidFill>
              <a:prstDash val="solid"/>
            </a:ln>
          </c:spPr>
        </c:majorGridlines>
        <c:title>
          <c:tx>
            <c:rich>
              <a:bodyPr xmlns:a="http://schemas.openxmlformats.org/drawingml/2006/main"/>
              <a:lstStyle xmlns:a="http://schemas.openxmlformats.org/drawingml/2006/main"/>
              <a:p xmlns:a="http://schemas.openxmlformats.org/drawingml/2006/main">
                <a:r>
                  <a:rPr sz="1725">
                    <a:solidFill>
                      <a:srgbClr val="526579"/>
                    </a:solidFill>
                    <a:latin typeface="Arial"/>
                    <a:ea typeface="Arial"/>
                    <a:cs typeface="Arial"/>
                  </a:rPr>
                  <a:t>L/100 km</a:t>
                </a:r>
              </a:p>
            </c:rich>
          </c:tx>
          <c:overlay val="0"/>
          <c:txPr>
            <a:bodyPr xmlns:a="http://schemas.openxmlformats.org/drawingml/2006/main" anchorCtr="1"/>
            <a:lstStyle xmlns:a="http://schemas.openxmlformats.org/drawingml/2006/main"/>
            <a:p xmlns:a="http://schemas.openxmlformats.org/drawingml/2006/main">
              <a:pPr>
                <a:defRPr sz="1725">
                  <a:solidFill>
                    <a:srgbClr val="526579"/>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265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b="1">
                <a:solidFill>
                  <a:srgbClr val="102238"/>
                </a:solidFill>
                <a:latin typeface="Arial"/>
                <a:ea typeface="Arial"/>
                <a:cs typeface="Arial"/>
              </a:rPr>
              <a:t>Test MAE</a:t>
            </a:r>
          </a:p>
        </c:rich>
      </c:tx>
      <c:overlay val="0"/>
      <c:txPr>
        <a:bodyPr xmlns:a="http://schemas.openxmlformats.org/drawingml/2006/main" anchorCtr="1"/>
        <a:lstStyle xmlns:a="http://schemas.openxmlformats.org/drawingml/2006/main"/>
        <a:p xmlns:a="http://schemas.openxmlformats.org/drawingml/2006/main">
          <a:pPr>
            <a:defRPr sz="2025" b="1">
              <a:solidFill>
                <a:srgbClr val="102238"/>
              </a:solidFill>
              <a:latin typeface="Arial"/>
              <a:ea typeface="Arial"/>
              <a:cs typeface="Arial"/>
            </a:defRPr>
          </a:pPr>
        </a:p>
      </c:txPr>
    </c:title>
    <c:plotArea>
      <c:barChart>
        <c:barDir val="col"/>
        <c:grouping val="clustered"/>
        <c:varyColors val="0"/>
        <c:ser>
          <c:idx val="0"/>
          <c:order val="0"/>
          <c:tx>
            <c:v>L/100 km</c:v>
          </c:tx>
          <c:spPr>
            <a:solidFill xmlns:a="http://schemas.openxmlformats.org/drawingml/2006/main">
              <a:srgbClr val="087D9A"/>
            </a:solidFill>
          </c:spPr>
          <c:cat>
            <c:strRef>
              <c:f>'Chart Data'!$A$2:$A$5</c:f>
              <c:strCache>
                <c:ptCount val="4"/>
                <c:pt idx="0">
                  <c:v>Dummy</c:v>
                </c:pt>
                <c:pt idx="1">
                  <c:v>Linear</c:v>
                </c:pt>
                <c:pt idx="2">
                  <c:v>KNN</c:v>
                </c:pt>
                <c:pt idx="3">
                  <c:v>Tree</c:v>
                </c:pt>
              </c:strCache>
            </c:strRef>
          </c:cat>
          <c:val>
            <c:numRef>
              <c:f>'Chart Data'!$B$2:$B$5</c:f>
              <c:numCache>
                <c:formatCode>0.00</c:formatCode>
                <c:ptCount val="4"/>
                <c:pt idx="0">
                  <c:v>2.5969806862</c:v>
                </c:pt>
                <c:pt idx="1">
                  <c:v>0.7137638159</c:v>
                </c:pt>
                <c:pt idx="2">
                  <c:v>0.6924496228</c:v>
                </c:pt>
                <c:pt idx="3">
                  <c:v>0.9166726554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02238"/>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AE3E8"/>
            </a:solidFill>
          </a:ln>
        </c:spPr>
        <c:txPr>
          <a:bodyPr xmlns:a="http://schemas.openxmlformats.org/drawingml/2006/main" anchorCtr="1"/>
          <a:lstStyle xmlns:a="http://schemas.openxmlformats.org/drawingml/2006/main"/>
          <a:p xmlns:a="http://schemas.openxmlformats.org/drawingml/2006/main">
            <a:pPr>
              <a:defRPr sz="1725">
                <a:solidFill>
                  <a:srgbClr val="526579"/>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AE3E8"/>
              </a:solidFill>
              <a:prstDash val="solid"/>
            </a:ln>
          </c:spPr>
        </c:majorGridlines>
        <c:title>
          <c:tx>
            <c:rich>
              <a:bodyPr xmlns:a="http://schemas.openxmlformats.org/drawingml/2006/main"/>
              <a:lstStyle xmlns:a="http://schemas.openxmlformats.org/drawingml/2006/main"/>
              <a:p xmlns:a="http://schemas.openxmlformats.org/drawingml/2006/main">
                <a:r>
                  <a:rPr sz="1725">
                    <a:solidFill>
                      <a:srgbClr val="526579"/>
                    </a:solidFill>
                    <a:latin typeface="Arial"/>
                    <a:ea typeface="Arial"/>
                    <a:cs typeface="Arial"/>
                  </a:rPr>
                  <a:t>L/100 km</a:t>
                </a:r>
              </a:p>
            </c:rich>
          </c:tx>
          <c:overlay val="0"/>
          <c:txPr>
            <a:bodyPr xmlns:a="http://schemas.openxmlformats.org/drawingml/2006/main" anchorCtr="1"/>
            <a:lstStyle xmlns:a="http://schemas.openxmlformats.org/drawingml/2006/main"/>
            <a:p xmlns:a="http://schemas.openxmlformats.org/drawingml/2006/main">
              <a:pPr>
                <a:defRPr sz="1725">
                  <a:solidFill>
                    <a:srgbClr val="526579"/>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265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b="1">
                <a:solidFill>
                  <a:srgbClr val="102238"/>
                </a:solidFill>
                <a:latin typeface="Arial"/>
                <a:ea typeface="Arial"/>
                <a:cs typeface="Arial"/>
              </a:rPr>
              <a:t>Test MAE by engine size</a:t>
            </a:r>
          </a:p>
        </c:rich>
      </c:tx>
      <c:overlay val="0"/>
      <c:txPr>
        <a:bodyPr xmlns:a="http://schemas.openxmlformats.org/drawingml/2006/main" anchorCtr="1"/>
        <a:lstStyle xmlns:a="http://schemas.openxmlformats.org/drawingml/2006/main"/>
        <a:p xmlns:a="http://schemas.openxmlformats.org/drawingml/2006/main">
          <a:pPr>
            <a:defRPr sz="2025" b="1">
              <a:solidFill>
                <a:srgbClr val="102238"/>
              </a:solidFill>
              <a:latin typeface="Arial"/>
              <a:ea typeface="Arial"/>
              <a:cs typeface="Arial"/>
            </a:defRPr>
          </a:pPr>
        </a:p>
      </c:txPr>
    </c:title>
    <c:plotArea>
      <c:barChart>
        <c:barDir val="col"/>
        <c:grouping val="clustered"/>
        <c:varyColors val="0"/>
        <c:ser>
          <c:idx val="0"/>
          <c:order val="0"/>
          <c:tx>
            <c:v>L/100 km</c:v>
          </c:tx>
          <c:spPr>
            <a:solidFill xmlns:a="http://schemas.openxmlformats.org/drawingml/2006/main">
              <a:srgbClr val="087D9A"/>
            </a:solidFill>
          </c:spPr>
          <c:cat>
            <c:strRef>
              <c:f>'Chart Data'!$A$2:$A$5</c:f>
              <c:strCache>
                <c:ptCount val="4"/>
                <c:pt idx="0">
                  <c:v>(0,2]
n=285</c:v>
                </c:pt>
                <c:pt idx="1">
                  <c:v>(2,3]
n=63</c:v>
                </c:pt>
                <c:pt idx="2">
                  <c:v>(3,4]
n=108</c:v>
                </c:pt>
                <c:pt idx="3">
                  <c:v>(4,+inf)
n=163</c:v>
                </c:pt>
              </c:strCache>
            </c:strRef>
          </c:cat>
          <c:val>
            <c:numRef>
              <c:f>'Chart Data'!$B$2:$B$5</c:f>
              <c:numCache>
                <c:formatCode>0.00</c:formatCode>
                <c:ptCount val="4"/>
                <c:pt idx="0">
                  <c:v>0.7471216093</c:v>
                </c:pt>
                <c:pt idx="1">
                  <c:v>0.6977860726</c:v>
                </c:pt>
                <c:pt idx="2">
                  <c:v>0.563062811</c:v>
                </c:pt>
                <c:pt idx="3">
                  <c:v>0.761465259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02238"/>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AE3E8"/>
            </a:solidFill>
          </a:ln>
        </c:spPr>
        <c:txPr>
          <a:bodyPr xmlns:a="http://schemas.openxmlformats.org/drawingml/2006/main" anchorCtr="1"/>
          <a:lstStyle xmlns:a="http://schemas.openxmlformats.org/drawingml/2006/main"/>
          <a:p xmlns:a="http://schemas.openxmlformats.org/drawingml/2006/main">
            <a:pPr>
              <a:defRPr sz="1725">
                <a:solidFill>
                  <a:srgbClr val="526579"/>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AE3E8"/>
              </a:solidFill>
              <a:prstDash val="solid"/>
            </a:ln>
          </c:spPr>
        </c:majorGridlines>
        <c:title>
          <c:tx>
            <c:rich>
              <a:bodyPr xmlns:a="http://schemas.openxmlformats.org/drawingml/2006/main"/>
              <a:lstStyle xmlns:a="http://schemas.openxmlformats.org/drawingml/2006/main"/>
              <a:p xmlns:a="http://schemas.openxmlformats.org/drawingml/2006/main">
                <a:r>
                  <a:rPr sz="1725">
                    <a:solidFill>
                      <a:srgbClr val="526579"/>
                    </a:solidFill>
                    <a:latin typeface="Arial"/>
                    <a:ea typeface="Arial"/>
                    <a:cs typeface="Arial"/>
                  </a:rPr>
                  <a:t>L/100 km</a:t>
                </a:r>
              </a:p>
            </c:rich>
          </c:tx>
          <c:overlay val="0"/>
          <c:txPr>
            <a:bodyPr xmlns:a="http://schemas.openxmlformats.org/drawingml/2006/main" anchorCtr="1"/>
            <a:lstStyle xmlns:a="http://schemas.openxmlformats.org/drawingml/2006/main"/>
            <a:p xmlns:a="http://schemas.openxmlformats.org/drawingml/2006/main">
              <a:pPr>
                <a:defRPr sz="1725">
                  <a:solidFill>
                    <a:srgbClr val="526579"/>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265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238"/>
        </a:solidFill>
      </p:bgPr>
    </p:bg>
    <p:spTree>
      <p:nvGrpSpPr>
        <p:cNvPr id="1" name=""/>
        <p:cNvGrpSpPr/>
        <p:nvPr/>
      </p:nvGrpSpPr>
      <p:grpSpPr>
        <a:xfrm xmlns:a="http://schemas.openxmlformats.org/drawingml/2006/main"/>
      </p:grpSpPr>
      <p:sp>
        <p:nvSpPr>
          <p:cNvPr id="5" name="cover-title">
            <a:extLst xmlns:a="http://schemas.openxmlformats.org/drawingml/2006/main">
              <a:ext uri="{FF2B5EF4-FFF2-40B4-BE49-F238E27FC236}">
                <a16:creationId xmlns:a16="http://schemas.microsoft.com/office/drawing/2014/main" id="{FFEC1C85-193E-41BA-AB8E-3E9A36189937}"/>
              </a:ext>
            </a:extLst>
          </p:cNvPr>
          <p:cNvSpPr>
            <a:spLocks xmlns:a="http://schemas.openxmlformats.org/drawingml/2006/main" noGrp="1"/>
          </p:cNvSpPr>
          <p:nvPr/>
        </p:nvSpPr>
        <p:spPr>
          <a:xfrm xmlns:a="http://schemas.openxmlformats.org/drawingml/2006/main">
            <a:off x="609600" y="1047750"/>
            <a:ext cx="10668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Arial"/>
                <a:ea typeface="Arial"/>
                <a:cs typeface="Arial"/>
              </a:defRPr>
            </a:defPPr>
          </a:lstStyle>
          <a:p xmlns:a="http://schemas.openxmlformats.org/drawingml/2006/main">
            <a:pPr algn="l">
              <a:buNone/>
              <a:defRPr sz="4800" b="1">
                <a:solidFill>
                  <a:srgbClr val="FFFFFF"/>
                </a:solidFill>
                <a:latin typeface="Arial"/>
                <a:ea typeface="Arial"/>
                <a:cs typeface="Arial"/>
              </a:defRPr>
            </a:pPr>
            <a:r>
              <a:rPr sz="4800" b="1">
                <a:solidFill>
                  <a:srgbClr val="FFFFFF"/>
                </a:solidFill>
                <a:latin typeface="Arial"/>
                <a:ea typeface="Arial"/>
                <a:cs typeface="Arial"/>
              </a:rPr>
              <a:t>Predicting EPA combined</a:t>
            </a:r>
          </a:p>
          <a:p xmlns:a="http://schemas.openxmlformats.org/drawingml/2006/main">
            <a:pPr algn="l">
              <a:buNone/>
              <a:defRPr sz="4800" b="1">
                <a:solidFill>
                  <a:srgbClr val="FFFFFF"/>
                </a:solidFill>
                <a:latin typeface="Arial"/>
                <a:ea typeface="Arial"/>
                <a:cs typeface="Arial"/>
              </a:defRPr>
            </a:pPr>
            <a:r>
              <a:rPr sz="4800" b="1">
                <a:solidFill>
                  <a:srgbClr val="FFFFFF"/>
                </a:solidFill>
                <a:latin typeface="Arial"/>
                <a:ea typeface="Arial"/>
                <a:cs typeface="Arial"/>
              </a:rPr>
              <a:t>fuel consumption</a:t>
            </a:r>
          </a:p>
        </p:txBody>
      </p:sp>
      <p:sp>
        <p:nvSpPr>
          <p:cNvPr id="2" name="cover-question">
            <a:extLst xmlns:a="http://schemas.openxmlformats.org/drawingml/2006/main">
              <a:ext uri="{FF2B5EF4-FFF2-40B4-BE49-F238E27FC236}">
                <a16:creationId xmlns:a16="http://schemas.microsoft.com/office/drawing/2014/main" id="{1B011BB5-24F6-447B-95A1-096C94BE2A6A}"/>
              </a:ext>
            </a:extLst>
          </p:cNvPr>
          <p:cNvSpPr>
            <a:spLocks xmlns:a="http://schemas.openxmlformats.org/drawingml/2006/main" noGrp="1"/>
          </p:cNvSpPr>
          <p:nvPr/>
        </p:nvSpPr>
        <p:spPr>
          <a:xfrm xmlns:a="http://schemas.openxmlformats.org/drawingml/2006/main">
            <a:off x="609600" y="3190875"/>
            <a:ext cx="10382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FFFFFF"/>
                </a:solidFill>
                <a:latin typeface="Arial"/>
                <a:ea typeface="Arial"/>
                <a:cs typeface="Arial"/>
              </a:defRPr>
            </a:defPPr>
          </a:lstStyle>
          <a:p xmlns:a="http://schemas.openxmlformats.org/drawingml/2006/main">
            <a:pPr algn="l">
              <a:buNone/>
              <a:defRPr sz="2400" b="0">
                <a:solidFill>
                  <a:srgbClr val="FFFFFF"/>
                </a:solidFill>
                <a:latin typeface="Arial"/>
                <a:ea typeface="Arial"/>
                <a:cs typeface="Arial"/>
              </a:defRPr>
            </a:pPr>
            <a:r>
              <a:rPr sz="2400" b="0">
                <a:solidFill>
                  <a:srgbClr val="FFFFFF"/>
                </a:solidFill>
                <a:latin typeface="Arial"/>
                <a:ea typeface="Arial"/>
                <a:cs typeface="Arial"/>
              </a:rPr>
              <a:t>How accurately can technical specifications</a:t>
            </a:r>
          </a:p>
          <a:p xmlns:a="http://schemas.openxmlformats.org/drawingml/2006/main">
            <a:pPr algn="l">
              <a:buNone/>
              <a:defRPr sz="2400" b="0">
                <a:solidFill>
                  <a:srgbClr val="FFFFFF"/>
                </a:solidFill>
                <a:latin typeface="Arial"/>
                <a:ea typeface="Arial"/>
                <a:cs typeface="Arial"/>
              </a:defRPr>
            </a:pPr>
            <a:r>
              <a:rPr sz="2400" b="0">
                <a:solidFill>
                  <a:srgbClr val="FFFFFF"/>
                </a:solidFill>
                <a:latin typeface="Arial"/>
                <a:ea typeface="Arial"/>
                <a:cs typeface="Arial"/>
              </a:rPr>
              <a:t>predict consumption for gasoline cars and SUVs?</a:t>
            </a:r>
          </a:p>
        </p:txBody>
      </p:sp>
      <p:sp>
        <p:nvSpPr>
          <p:cNvPr id="3" name="cover-source">
            <a:extLst xmlns:a="http://schemas.openxmlformats.org/drawingml/2006/main">
              <a:ext uri="{FF2B5EF4-FFF2-40B4-BE49-F238E27FC236}">
                <a16:creationId xmlns:a16="http://schemas.microsoft.com/office/drawing/2014/main" id="{B6F894B3-6412-4B65-8455-2C6CEC219BF9}"/>
              </a:ext>
            </a:extLst>
          </p:cNvPr>
          <p:cNvSpPr>
            <a:spLocks xmlns:a="http://schemas.openxmlformats.org/drawingml/2006/main" noGrp="1"/>
          </p:cNvSpPr>
          <p:nvPr/>
        </p:nvSpPr>
        <p:spPr>
          <a:xfrm xmlns:a="http://schemas.openxmlformats.org/drawingml/2006/main">
            <a:off x="609600" y="47625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A9CDD7"/>
                </a:solidFill>
                <a:latin typeface="Arial"/>
                <a:ea typeface="Arial"/>
                <a:cs typeface="Arial"/>
              </a:defRPr>
            </a:defPPr>
          </a:lstStyle>
          <a:p xmlns:a="http://schemas.openxmlformats.org/drawingml/2006/main">
            <a:pPr algn="l">
              <a:buNone/>
              <a:defRPr sz="1950" b="0">
                <a:solidFill>
                  <a:srgbClr val="A9CDD7"/>
                </a:solidFill>
                <a:latin typeface="Arial"/>
                <a:ea typeface="Arial"/>
                <a:cs typeface="Arial"/>
              </a:defRPr>
            </a:pPr>
            <a:r>
              <a:rPr sz="1950" b="0">
                <a:solidFill>
                  <a:srgbClr val="A9CDD7"/>
                </a:solidFill>
                <a:latin typeface="Arial"/>
                <a:ea typeface="Arial"/>
                <a:cs typeface="Arial"/>
              </a:rPr>
              <a:t>FuelEconomy.gov API   US configurations   2015–2025</a:t>
            </a:r>
          </a:p>
        </p:txBody>
      </p:sp>
      <p:sp>
        <p:nvSpPr>
          <p:cNvPr id="4" name="cover-team">
            <a:extLst xmlns:a="http://schemas.openxmlformats.org/drawingml/2006/main">
              <a:ext uri="{FF2B5EF4-FFF2-40B4-BE49-F238E27FC236}">
                <a16:creationId xmlns:a16="http://schemas.microsoft.com/office/drawing/2014/main" id="{85AD4664-213A-4AC9-914F-53DF1D626BFD}"/>
              </a:ext>
            </a:extLst>
          </p:cNvPr>
          <p:cNvSpPr>
            <a:spLocks xmlns:a="http://schemas.openxmlformats.org/drawingml/2006/main" noGrp="1"/>
          </p:cNvSpPr>
          <p:nvPr/>
        </p:nvSpPr>
        <p:spPr>
          <a:xfrm xmlns:a="http://schemas.openxmlformats.org/drawingml/2006/main">
            <a:off x="609600" y="5505450"/>
            <a:ext cx="1047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Arial"/>
                <a:ea typeface="Arial"/>
                <a:cs typeface="Arial"/>
              </a:defRPr>
            </a:defPPr>
          </a:lstStyle>
          <a:p xmlns:a="http://schemas.openxmlformats.org/drawingml/2006/main">
            <a:pPr algn="l">
              <a:buNone/>
              <a:defRPr sz="1875" b="0">
                <a:solidFill>
                  <a:srgbClr val="FFFFFF"/>
                </a:solidFill>
                <a:latin typeface="Arial"/>
                <a:ea typeface="Arial"/>
                <a:cs typeface="Arial"/>
              </a:defRPr>
            </a:pPr>
            <a:r>
              <a:rPr sz="1875" b="0">
                <a:solidFill>
                  <a:srgbClr val="FFFFFF"/>
                </a:solidFill>
                <a:latin typeface="Arial"/>
                <a:ea typeface="Arial"/>
                <a:cs typeface="Arial"/>
              </a:rPr>
              <a:t>SE-2421</a:t>
            </a:r>
          </a:p>
          <a:p xmlns:a="http://schemas.openxmlformats.org/drawingml/2006/main">
            <a:pPr algn="l">
              <a:buNone/>
              <a:defRPr sz="1875" b="0">
                <a:solidFill>
                  <a:srgbClr val="FFFFFF"/>
                </a:solidFill>
                <a:latin typeface="Arial"/>
                <a:ea typeface="Arial"/>
                <a:cs typeface="Arial"/>
              </a:defRPr>
            </a:pPr>
            <a:r>
              <a:rPr sz="1875" b="0">
                <a:solidFill>
                  <a:srgbClr val="FFFFFF"/>
                </a:solidFill>
                <a:latin typeface="Arial"/>
                <a:ea typeface="Arial"/>
                <a:cs typeface="Arial"/>
              </a:rPr>
              <a:t>Tsybus Nikita and Bakytzhan Kassymgali</a:t>
            </a:r>
          </a:p>
        </p:txBody>
      </p:sp>
    </p:spTree>
    <p:extLst>
      <p:ext uri="{BB962C8B-B14F-4D97-AF65-F5344CB8AC3E}">
        <p14:creationId xmlns:p14="http://schemas.microsoft.com/office/powerpoint/2010/main" val="13698528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8BD880E3-01DA-40B7-BC64-04986BF86DFA}"/>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238"/>
                </a:solidFill>
                <a:latin typeface="Arial"/>
                <a:ea typeface="Arial"/>
                <a:cs typeface="Arial"/>
              </a:defRPr>
            </a:defPPr>
          </a:lstStyle>
          <a:p xmlns:a="http://schemas.openxmlformats.org/drawingml/2006/main">
            <a:pPr algn="l">
              <a:buNone/>
              <a:defRPr sz="3300" b="1">
                <a:solidFill>
                  <a:srgbClr val="102238"/>
                </a:solidFill>
                <a:latin typeface="Arial"/>
                <a:ea typeface="Arial"/>
                <a:cs typeface="Arial"/>
              </a:defRPr>
            </a:pPr>
            <a:r>
              <a:rPr sz="3300" b="1">
                <a:solidFill>
                  <a:srgbClr val="102238"/>
                </a:solidFill>
                <a:latin typeface="Arial"/>
                <a:ea typeface="Arial"/>
                <a:cs typeface="Arial"/>
              </a:rPr>
              <a:t>Collection and scope</a:t>
            </a:r>
          </a:p>
        </p:txBody>
      </p:sp>
      <p:sp>
        <p:nvSpPr>
          <p:cNvPr id="2" name="footer">
            <a:extLst xmlns:a="http://schemas.openxmlformats.org/drawingml/2006/main">
              <a:ext uri="{FF2B5EF4-FFF2-40B4-BE49-F238E27FC236}">
                <a16:creationId xmlns:a16="http://schemas.microsoft.com/office/drawing/2014/main" id="{B78E8831-B486-48B7-9178-A538E215B9EF}"/>
              </a:ext>
            </a:extLst>
          </p:cNvPr>
          <p:cNvSpPr>
            <a:spLocks xmlns:a="http://schemas.openxmlformats.org/drawingml/2006/main" noGrp="1"/>
          </p:cNvSpPr>
          <p:nvPr/>
        </p:nvSpPr>
        <p:spPr>
          <a:xfrm xmlns:a="http://schemas.openxmlformats.org/drawingml/2006/main">
            <a:off x="609600" y="647700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26579"/>
                </a:solidFill>
                <a:latin typeface="Arial"/>
                <a:ea typeface="Arial"/>
                <a:cs typeface="Arial"/>
              </a:defRPr>
            </a:defPPr>
          </a:lstStyle>
          <a:p xmlns:a="http://schemas.openxmlformats.org/drawingml/2006/main">
            <a:pPr algn="l">
              <a:buNone/>
              <a:defRPr sz="1200" b="0">
                <a:solidFill>
                  <a:srgbClr val="526579"/>
                </a:solidFill>
                <a:latin typeface="Arial"/>
                <a:ea typeface="Arial"/>
                <a:cs typeface="Arial"/>
              </a:defRPr>
            </a:pPr>
            <a:r>
              <a:rPr sz="1200" b="0">
                <a:solidFill>
                  <a:srgbClr val="526579"/>
                </a:solidFill>
                <a:latin typeface="Arial"/>
                <a:ea typeface="Arial"/>
                <a:cs typeface="Arial"/>
              </a:rPr>
              <a:t>SE-2421   EPA combined consumption   benchmark_2015_2025_20261009</a:t>
            </a:r>
          </a:p>
        </p:txBody>
      </p:sp>
      <p:sp>
        <p:nvSpPr>
          <p:cNvPr id="3" name="page-number">
            <a:extLst xmlns:a="http://schemas.openxmlformats.org/drawingml/2006/main">
              <a:ext uri="{FF2B5EF4-FFF2-40B4-BE49-F238E27FC236}">
                <a16:creationId xmlns:a16="http://schemas.microsoft.com/office/drawing/2014/main" id="{D378A92B-FD96-4870-B8D9-ADC5BB122B79}"/>
              </a:ext>
            </a:extLst>
          </p:cNvPr>
          <p:cNvSpPr>
            <a:spLocks xmlns:a="http://schemas.openxmlformats.org/drawingml/2006/main" noGrp="1"/>
          </p:cNvSpPr>
          <p:nvPr/>
        </p:nvSpPr>
        <p:spPr>
          <a:xfrm xmlns:a="http://schemas.openxmlformats.org/drawingml/2006/main">
            <a:off x="11182350" y="647700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Arial"/>
                <a:ea typeface="Arial"/>
                <a:cs typeface="Arial"/>
              </a:defRPr>
            </a:defPPr>
          </a:lstStyle>
          <a:p xmlns:a="http://schemas.openxmlformats.org/drawingml/2006/main">
            <a:pPr algn="r">
              <a:buNone/>
              <a:defRPr sz="1200" b="0">
                <a:solidFill>
                  <a:srgbClr val="526579"/>
                </a:solidFill>
                <a:latin typeface="Arial"/>
                <a:ea typeface="Arial"/>
                <a:cs typeface="Arial"/>
              </a:defRPr>
            </a:pPr>
            <a:r>
              <a:rPr sz="1200" b="0">
                <a:solidFill>
                  <a:srgbClr val="526579"/>
                </a:solidFill>
                <a:latin typeface="Arial"/>
                <a:ea typeface="Arial"/>
                <a:cs typeface="Arial"/>
              </a:rPr>
              <a:t>2/8</a:t>
            </a:r>
          </a:p>
        </p:txBody>
      </p:sp>
      <p:sp>
        <p:nvSpPr>
          <p:cNvPr id="4" name="raw-count">
            <a:extLst xmlns:a="http://schemas.openxmlformats.org/drawingml/2006/main">
              <a:ext uri="{FF2B5EF4-FFF2-40B4-BE49-F238E27FC236}">
                <a16:creationId xmlns:a16="http://schemas.microsoft.com/office/drawing/2014/main" id="{83DB2096-0F05-442C-8DE5-DF958E9C3C39}"/>
              </a:ext>
            </a:extLst>
          </p:cNvPr>
          <p:cNvSpPr>
            <a:spLocks xmlns:a="http://schemas.openxmlformats.org/drawingml/2006/main" noGrp="1"/>
          </p:cNvSpPr>
          <p:nvPr/>
        </p:nvSpPr>
        <p:spPr>
          <a:xfrm xmlns:a="http://schemas.openxmlformats.org/drawingml/2006/main">
            <a:off x="609600" y="1571625"/>
            <a:ext cx="6096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102238"/>
                </a:solidFill>
                <a:latin typeface="Arial"/>
                <a:ea typeface="Arial"/>
                <a:cs typeface="Arial"/>
              </a:defRPr>
            </a:defPPr>
          </a:lstStyle>
          <a:p xmlns:a="http://schemas.openxmlformats.org/drawingml/2006/main">
            <a:pPr algn="l">
              <a:buNone/>
              <a:defRPr sz="3150" b="1">
                <a:solidFill>
                  <a:srgbClr val="102238"/>
                </a:solidFill>
                <a:latin typeface="Arial"/>
                <a:ea typeface="Arial"/>
                <a:cs typeface="Arial"/>
              </a:defRPr>
            </a:pPr>
            <a:r>
              <a:rPr sz="3150" b="1">
                <a:solidFill>
                  <a:srgbClr val="102238"/>
                </a:solidFill>
                <a:latin typeface="Arial"/>
                <a:ea typeface="Arial"/>
                <a:cs typeface="Arial"/>
              </a:rPr>
              <a:t>4,500 individual records</a:t>
            </a:r>
          </a:p>
        </p:txBody>
      </p:sp>
      <p:sp>
        <p:nvSpPr>
          <p:cNvPr id="5" name="excluded-count">
            <a:extLst xmlns:a="http://schemas.openxmlformats.org/drawingml/2006/main">
              <a:ext uri="{FF2B5EF4-FFF2-40B4-BE49-F238E27FC236}">
                <a16:creationId xmlns:a16="http://schemas.microsoft.com/office/drawing/2014/main" id="{137A83A5-77B2-4826-8227-5B7B210EBAF7}"/>
              </a:ext>
            </a:extLst>
          </p:cNvPr>
          <p:cNvSpPr>
            <a:spLocks xmlns:a="http://schemas.openxmlformats.org/drawingml/2006/main" noGrp="1"/>
          </p:cNvSpPr>
          <p:nvPr/>
        </p:nvSpPr>
        <p:spPr>
          <a:xfrm xmlns:a="http://schemas.openxmlformats.org/drawingml/2006/main">
            <a:off x="609600" y="2381250"/>
            <a:ext cx="609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02238"/>
                </a:solidFill>
                <a:latin typeface="Arial"/>
                <a:ea typeface="Arial"/>
                <a:cs typeface="Arial"/>
              </a:defRPr>
            </a:defPPr>
          </a:lstStyle>
          <a:p xmlns:a="http://schemas.openxmlformats.org/drawingml/2006/main">
            <a:pPr algn="l">
              <a:buNone/>
              <a:defRPr sz="2100" b="0">
                <a:solidFill>
                  <a:srgbClr val="102238"/>
                </a:solidFill>
                <a:latin typeface="Arial"/>
                <a:ea typeface="Arial"/>
                <a:cs typeface="Arial"/>
              </a:defRPr>
            </a:pPr>
            <a:r>
              <a:rPr sz="2100" b="0">
                <a:solidFill>
                  <a:srgbClr val="102238"/>
                </a:solidFill>
                <a:latin typeface="Arial"/>
                <a:ea typeface="Arial"/>
                <a:cs typeface="Arial"/>
              </a:rPr>
              <a:t>1,253 scope or quality exclusions</a:t>
            </a:r>
          </a:p>
        </p:txBody>
      </p:sp>
      <p:sp>
        <p:nvSpPr>
          <p:cNvPr id="6" name="duplicate-count">
            <a:extLst xmlns:a="http://schemas.openxmlformats.org/drawingml/2006/main">
              <a:ext uri="{FF2B5EF4-FFF2-40B4-BE49-F238E27FC236}">
                <a16:creationId xmlns:a16="http://schemas.microsoft.com/office/drawing/2014/main" id="{542EB759-72DC-4628-A0FD-896D51A6C08E}"/>
              </a:ext>
            </a:extLst>
          </p:cNvPr>
          <p:cNvSpPr>
            <a:spLocks xmlns:a="http://schemas.openxmlformats.org/drawingml/2006/main" noGrp="1"/>
          </p:cNvSpPr>
          <p:nvPr/>
        </p:nvSpPr>
        <p:spPr>
          <a:xfrm xmlns:a="http://schemas.openxmlformats.org/drawingml/2006/main">
            <a:off x="609600" y="2990850"/>
            <a:ext cx="609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02238"/>
                </a:solidFill>
                <a:latin typeface="Arial"/>
                <a:ea typeface="Arial"/>
                <a:cs typeface="Arial"/>
              </a:defRPr>
            </a:defPPr>
          </a:lstStyle>
          <a:p xmlns:a="http://schemas.openxmlformats.org/drawingml/2006/main">
            <a:pPr algn="l">
              <a:buNone/>
              <a:defRPr sz="2100" b="0">
                <a:solidFill>
                  <a:srgbClr val="102238"/>
                </a:solidFill>
                <a:latin typeface="Arial"/>
                <a:ea typeface="Arial"/>
                <a:cs typeface="Arial"/>
              </a:defRPr>
            </a:pPr>
            <a:r>
              <a:rPr sz="2100" b="0">
                <a:solidFill>
                  <a:srgbClr val="102238"/>
                </a:solidFill>
                <a:latin typeface="Arial"/>
                <a:ea typeface="Arial"/>
                <a:cs typeface="Arial"/>
              </a:rPr>
              <a:t>0 confirmed duplicate records removed</a:t>
            </a:r>
          </a:p>
        </p:txBody>
      </p:sp>
      <p:sp>
        <p:nvSpPr>
          <p:cNvPr id="7" name="retained-count">
            <a:extLst xmlns:a="http://schemas.openxmlformats.org/drawingml/2006/main">
              <a:ext uri="{FF2B5EF4-FFF2-40B4-BE49-F238E27FC236}">
                <a16:creationId xmlns:a16="http://schemas.microsoft.com/office/drawing/2014/main" id="{5C160A10-0013-49DA-8837-CEBEFF4D5D3F}"/>
              </a:ext>
            </a:extLst>
          </p:cNvPr>
          <p:cNvSpPr>
            <a:spLocks xmlns:a="http://schemas.openxmlformats.org/drawingml/2006/main" noGrp="1"/>
          </p:cNvSpPr>
          <p:nvPr/>
        </p:nvSpPr>
        <p:spPr>
          <a:xfrm xmlns:a="http://schemas.openxmlformats.org/drawingml/2006/main">
            <a:off x="609600" y="3933825"/>
            <a:ext cx="619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087D9A"/>
                </a:solidFill>
                <a:latin typeface="Arial"/>
                <a:ea typeface="Arial"/>
                <a:cs typeface="Arial"/>
              </a:defRPr>
            </a:defPPr>
          </a:lstStyle>
          <a:p xmlns:a="http://schemas.openxmlformats.org/drawingml/2006/main">
            <a:pPr algn="l">
              <a:buNone/>
              <a:defRPr sz="3150" b="1">
                <a:solidFill>
                  <a:srgbClr val="087D9A"/>
                </a:solidFill>
                <a:latin typeface="Arial"/>
                <a:ea typeface="Arial"/>
                <a:cs typeface="Arial"/>
              </a:defRPr>
            </a:pPr>
            <a:r>
              <a:rPr sz="3150" b="1">
                <a:solidFill>
                  <a:srgbClr val="087D9A"/>
                </a:solidFill>
                <a:latin typeface="Arial"/>
                <a:ea typeface="Arial"/>
                <a:cs typeface="Arial"/>
              </a:rPr>
              <a:t>3,247 retained configurations</a:t>
            </a:r>
          </a:p>
        </p:txBody>
      </p:sp>
      <p:sp>
        <p:nvSpPr>
          <p:cNvPr id="8" name="scope">
            <a:extLst xmlns:a="http://schemas.openxmlformats.org/drawingml/2006/main">
              <a:ext uri="{FF2B5EF4-FFF2-40B4-BE49-F238E27FC236}">
                <a16:creationId xmlns:a16="http://schemas.microsoft.com/office/drawing/2014/main" id="{7DCAC874-BA21-4B33-AC2E-6D9D23016592}"/>
              </a:ext>
            </a:extLst>
          </p:cNvPr>
          <p:cNvSpPr>
            <a:spLocks xmlns:a="http://schemas.openxmlformats.org/drawingml/2006/main" noGrp="1"/>
          </p:cNvSpPr>
          <p:nvPr/>
        </p:nvSpPr>
        <p:spPr>
          <a:xfrm xmlns:a="http://schemas.openxmlformats.org/drawingml/2006/main">
            <a:off x="7286625" y="1590675"/>
            <a:ext cx="4276725"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02238"/>
                </a:solidFill>
                <a:latin typeface="Arial"/>
                <a:ea typeface="Arial"/>
                <a:cs typeface="Arial"/>
              </a:defRPr>
            </a:defPPr>
          </a:lstStyle>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11 observed model years</a:t>
            </a:r>
          </a:p>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49 manufacturers</a:t>
            </a:r>
          </a:p>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Gasoline cars, wagons and SUVs</a:t>
            </a:r>
          </a:p>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Hybrid and alternative fuels excluded</a:t>
            </a:r>
          </a:p>
        </p:txBody>
      </p:sp>
      <p:sp>
        <p:nvSpPr>
          <p:cNvPr id="9" name="source-preservation">
            <a:extLst xmlns:a="http://schemas.openxmlformats.org/drawingml/2006/main">
              <a:ext uri="{FF2B5EF4-FFF2-40B4-BE49-F238E27FC236}">
                <a16:creationId xmlns:a16="http://schemas.microsoft.com/office/drawing/2014/main" id="{4ADD9166-0DBF-4709-AFFA-36AD1101069C}"/>
              </a:ext>
            </a:extLst>
          </p:cNvPr>
          <p:cNvSpPr>
            <a:spLocks xmlns:a="http://schemas.openxmlformats.org/drawingml/2006/main" noGrp="1"/>
          </p:cNvSpPr>
          <p:nvPr/>
        </p:nvSpPr>
        <p:spPr>
          <a:xfrm xmlns:a="http://schemas.openxmlformats.org/drawingml/2006/main">
            <a:off x="609600" y="5095875"/>
            <a:ext cx="666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26579"/>
                </a:solidFill>
                <a:latin typeface="Arial"/>
                <a:ea typeface="Arial"/>
                <a:cs typeface="Arial"/>
              </a:defRPr>
            </a:defPPr>
          </a:lstStyle>
          <a:p xmlns:a="http://schemas.openxmlformats.org/drawingml/2006/main">
            <a:pPr algn="l">
              <a:buNone/>
              <a:defRPr sz="1950" b="0">
                <a:solidFill>
                  <a:srgbClr val="526579"/>
                </a:solidFill>
                <a:latin typeface="Arial"/>
                <a:ea typeface="Arial"/>
                <a:cs typeface="Arial"/>
              </a:defRPr>
            </a:pPr>
            <a:r>
              <a:rPr sz="1950" b="0">
                <a:solidFill>
                  <a:srgbClr val="526579"/>
                </a:solidFill>
                <a:latin typeface="Arial"/>
                <a:ea typeface="Arial"/>
                <a:cs typeface="Arial"/>
              </a:rPr>
              <a:t>Raw responses, UTC dates and SHA-256</a:t>
            </a:r>
          </a:p>
          <a:p xmlns:a="http://schemas.openxmlformats.org/drawingml/2006/main">
            <a:pPr algn="l">
              <a:buNone/>
              <a:defRPr sz="1950" b="0">
                <a:solidFill>
                  <a:srgbClr val="526579"/>
                </a:solidFill>
                <a:latin typeface="Arial"/>
                <a:ea typeface="Arial"/>
                <a:cs typeface="Arial"/>
              </a:defRPr>
            </a:pPr>
            <a:r>
              <a:rPr sz="1950" b="0">
                <a:solidFill>
                  <a:srgbClr val="526579"/>
                </a:solidFill>
                <a:latin typeface="Arial"/>
                <a:ea typeface="Arial"/>
                <a:cs typeface="Arial"/>
              </a:rPr>
              <a:t>Resumable menus and record requests</a:t>
            </a:r>
          </a:p>
        </p:txBody>
      </p:sp>
      <p:sp>
        <p:nvSpPr>
          <p:cNvPr id="10" name="target-formula">
            <a:extLst xmlns:a="http://schemas.openxmlformats.org/drawingml/2006/main">
              <a:ext uri="{FF2B5EF4-FFF2-40B4-BE49-F238E27FC236}">
                <a16:creationId xmlns:a16="http://schemas.microsoft.com/office/drawing/2014/main" id="{8C42FD63-BA07-4190-9A43-EB2AAB2970BC}"/>
              </a:ext>
            </a:extLst>
          </p:cNvPr>
          <p:cNvSpPr>
            <a:spLocks xmlns:a="http://schemas.openxmlformats.org/drawingml/2006/main" noGrp="1"/>
          </p:cNvSpPr>
          <p:nvPr/>
        </p:nvSpPr>
        <p:spPr>
          <a:xfrm xmlns:a="http://schemas.openxmlformats.org/drawingml/2006/main">
            <a:off x="7286625" y="4257675"/>
            <a:ext cx="42767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02238"/>
                </a:solidFill>
                <a:latin typeface="Arial"/>
                <a:ea typeface="Arial"/>
                <a:cs typeface="Arial"/>
              </a:defRPr>
            </a:defPPr>
          </a:lstStyle>
          <a:p xmlns:a="http://schemas.openxmlformats.org/drawingml/2006/main">
            <a:pPr algn="l">
              <a:buNone/>
              <a:defRPr sz="2100" b="1">
                <a:solidFill>
                  <a:srgbClr val="102238"/>
                </a:solidFill>
                <a:latin typeface="Arial"/>
                <a:ea typeface="Arial"/>
                <a:cs typeface="Arial"/>
              </a:defRPr>
            </a:pPr>
            <a:r>
              <a:rPr sz="2100" b="1">
                <a:solidFill>
                  <a:srgbClr val="102238"/>
                </a:solidFill>
                <a:latin typeface="Arial"/>
                <a:ea typeface="Arial"/>
                <a:cs typeface="Arial"/>
              </a:rPr>
              <a:t>Target in L/100 km</a:t>
            </a:r>
          </a:p>
          <a:p xmlns:a="http://schemas.openxmlformats.org/drawingml/2006/main">
            <a:pPr algn="l">
              <a:buNone/>
              <a:defRPr sz="2100" b="1">
                <a:solidFill>
                  <a:srgbClr val="102238"/>
                </a:solidFill>
                <a:latin typeface="Arial"/>
                <a:ea typeface="Arial"/>
                <a:cs typeface="Arial"/>
              </a:defRPr>
            </a:pPr>
            <a:r>
              <a:rPr sz="2100" b="1">
                <a:solidFill>
                  <a:srgbClr val="102238"/>
                </a:solidFill>
                <a:latin typeface="Arial"/>
                <a:ea typeface="Arial"/>
                <a:cs typeface="Arial"/>
              </a:rPr>
              <a:t>235.2145833333333 / comb08</a:t>
            </a:r>
          </a:p>
        </p:txBody>
      </p:sp>
      <p:sp>
        <p:nvSpPr>
          <p:cNvPr id="11" name="sampling-status">
            <a:extLst xmlns:a="http://schemas.openxmlformats.org/drawingml/2006/main">
              <a:ext uri="{FF2B5EF4-FFF2-40B4-BE49-F238E27FC236}">
                <a16:creationId xmlns:a16="http://schemas.microsoft.com/office/drawing/2014/main" id="{6E1B4554-4118-4BF0-8955-754BE732201F}"/>
              </a:ext>
            </a:extLst>
          </p:cNvPr>
          <p:cNvSpPr>
            <a:spLocks xmlns:a="http://schemas.openxmlformats.org/drawingml/2006/main" noGrp="1"/>
          </p:cNvSpPr>
          <p:nvPr/>
        </p:nvSpPr>
        <p:spPr>
          <a:xfrm xmlns:a="http://schemas.openxmlformats.org/drawingml/2006/main">
            <a:off x="609600" y="6048375"/>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26579"/>
                </a:solidFill>
                <a:latin typeface="Arial"/>
                <a:ea typeface="Arial"/>
                <a:cs typeface="Arial"/>
              </a:defRPr>
            </a:defPPr>
          </a:lstStyle>
          <a:p xmlns:a="http://schemas.openxmlformats.org/drawingml/2006/main">
            <a:pPr algn="l">
              <a:buNone/>
              <a:defRPr sz="1725" b="0">
                <a:solidFill>
                  <a:srgbClr val="526579"/>
                </a:solidFill>
                <a:latin typeface="Arial"/>
                <a:ea typeface="Arial"/>
                <a:cs typeface="Arial"/>
              </a:defRPr>
            </a:pPr>
            <a:r>
              <a:rPr sz="1725" b="0">
                <a:solidFill>
                  <a:srgbClr val="526579"/>
                </a:solidFill>
                <a:latin typeface="Arial"/>
                <a:ea typeface="Arial"/>
                <a:cs typeface="Arial"/>
              </a:rPr>
              <a:t>Bounded catalogue sample with unequal inclusion probabilities</a:t>
            </a:r>
          </a:p>
        </p:txBody>
      </p:sp>
    </p:spTree>
    <p:extLst>
      <p:ext uri="{BB962C8B-B14F-4D97-AF65-F5344CB8AC3E}">
        <p14:creationId xmlns:p14="http://schemas.microsoft.com/office/powerpoint/2010/main" val="2599724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EC469B55-5761-45B5-9A8B-9B47915BCF11}"/>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238"/>
                </a:solidFill>
                <a:latin typeface="Arial"/>
                <a:ea typeface="Arial"/>
                <a:cs typeface="Arial"/>
              </a:defRPr>
            </a:defPPr>
          </a:lstStyle>
          <a:p xmlns:a="http://schemas.openxmlformats.org/drawingml/2006/main">
            <a:pPr algn="l">
              <a:buNone/>
              <a:defRPr sz="3300" b="1">
                <a:solidFill>
                  <a:srgbClr val="102238"/>
                </a:solidFill>
                <a:latin typeface="Arial"/>
                <a:ea typeface="Arial"/>
                <a:cs typeface="Arial"/>
              </a:defRPr>
            </a:pPr>
            <a:r>
              <a:rPr sz="3300" b="1">
                <a:solidFill>
                  <a:srgbClr val="102238"/>
                </a:solidFill>
                <a:latin typeface="Arial"/>
                <a:ea typeface="Arial"/>
                <a:cs typeface="Arial"/>
              </a:rPr>
              <a:t>Training data exploration</a:t>
            </a:r>
          </a:p>
        </p:txBody>
      </p:sp>
      <p:sp>
        <p:nvSpPr>
          <p:cNvPr id="2" name="footer">
            <a:extLst xmlns:a="http://schemas.openxmlformats.org/drawingml/2006/main">
              <a:ext uri="{FF2B5EF4-FFF2-40B4-BE49-F238E27FC236}">
                <a16:creationId xmlns:a16="http://schemas.microsoft.com/office/drawing/2014/main" id="{5E6C9CE8-8660-4549-A0E2-82EEEF719FE9}"/>
              </a:ext>
            </a:extLst>
          </p:cNvPr>
          <p:cNvSpPr>
            <a:spLocks xmlns:a="http://schemas.openxmlformats.org/drawingml/2006/main" noGrp="1"/>
          </p:cNvSpPr>
          <p:nvPr/>
        </p:nvSpPr>
        <p:spPr>
          <a:xfrm xmlns:a="http://schemas.openxmlformats.org/drawingml/2006/main">
            <a:off x="609600" y="647700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26579"/>
                </a:solidFill>
                <a:latin typeface="Arial"/>
                <a:ea typeface="Arial"/>
                <a:cs typeface="Arial"/>
              </a:defRPr>
            </a:defPPr>
          </a:lstStyle>
          <a:p xmlns:a="http://schemas.openxmlformats.org/drawingml/2006/main">
            <a:pPr algn="l">
              <a:buNone/>
              <a:defRPr sz="1200" b="0">
                <a:solidFill>
                  <a:srgbClr val="526579"/>
                </a:solidFill>
                <a:latin typeface="Arial"/>
                <a:ea typeface="Arial"/>
                <a:cs typeface="Arial"/>
              </a:defRPr>
            </a:pPr>
            <a:r>
              <a:rPr sz="1200" b="0">
                <a:solidFill>
                  <a:srgbClr val="526579"/>
                </a:solidFill>
                <a:latin typeface="Arial"/>
                <a:ea typeface="Arial"/>
                <a:cs typeface="Arial"/>
              </a:rPr>
              <a:t>SE-2421   EPA combined consumption   benchmark_2015_2025_20261009</a:t>
            </a:r>
          </a:p>
        </p:txBody>
      </p:sp>
      <p:sp>
        <p:nvSpPr>
          <p:cNvPr id="3" name="page-number">
            <a:extLst xmlns:a="http://schemas.openxmlformats.org/drawingml/2006/main">
              <a:ext uri="{FF2B5EF4-FFF2-40B4-BE49-F238E27FC236}">
                <a16:creationId xmlns:a16="http://schemas.microsoft.com/office/drawing/2014/main" id="{C29F740E-FDC8-427A-87B7-84BFC512BBB4}"/>
              </a:ext>
            </a:extLst>
          </p:cNvPr>
          <p:cNvSpPr>
            <a:spLocks xmlns:a="http://schemas.openxmlformats.org/drawingml/2006/main" noGrp="1"/>
          </p:cNvSpPr>
          <p:nvPr/>
        </p:nvSpPr>
        <p:spPr>
          <a:xfrm xmlns:a="http://schemas.openxmlformats.org/drawingml/2006/main">
            <a:off x="11182350" y="647700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Arial"/>
                <a:ea typeface="Arial"/>
                <a:cs typeface="Arial"/>
              </a:defRPr>
            </a:defPPr>
          </a:lstStyle>
          <a:p xmlns:a="http://schemas.openxmlformats.org/drawingml/2006/main">
            <a:pPr algn="r">
              <a:buNone/>
              <a:defRPr sz="1200" b="0">
                <a:solidFill>
                  <a:srgbClr val="526579"/>
                </a:solidFill>
                <a:latin typeface="Arial"/>
                <a:ea typeface="Arial"/>
                <a:cs typeface="Arial"/>
              </a:defRPr>
            </a:pPr>
            <a:r>
              <a:rPr sz="1200" b="0">
                <a:solidFill>
                  <a:srgbClr val="526579"/>
                </a:solidFill>
                <a:latin typeface="Arial"/>
                <a:ea typeface="Arial"/>
                <a:cs typeface="Arial"/>
              </a:rPr>
              <a:t>3/8</a:t>
            </a:r>
          </a:p>
        </p:txBody>
      </p:sp>
      <p:sp>
        <p:nvSpPr>
          <p:cNvPr id="4" name="eda-scope">
            <a:extLst xmlns:a="http://schemas.openxmlformats.org/drawingml/2006/main">
              <a:ext uri="{FF2B5EF4-FFF2-40B4-BE49-F238E27FC236}">
                <a16:creationId xmlns:a16="http://schemas.microsoft.com/office/drawing/2014/main" id="{AA85D584-94B2-4B30-B8B3-BD77C917F011}"/>
              </a:ext>
            </a:extLst>
          </p:cNvPr>
          <p:cNvSpPr>
            <a:spLocks xmlns:a="http://schemas.openxmlformats.org/drawingml/2006/main" noGrp="1"/>
          </p:cNvSpPr>
          <p:nvPr/>
        </p:nvSpPr>
        <p:spPr>
          <a:xfrm xmlns:a="http://schemas.openxmlformats.org/drawingml/2006/main">
            <a:off x="609600" y="1200150"/>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26579"/>
                </a:solidFill>
                <a:latin typeface="Arial"/>
                <a:ea typeface="Arial"/>
                <a:cs typeface="Arial"/>
              </a:defRPr>
            </a:defPPr>
          </a:lstStyle>
          <a:p xmlns:a="http://schemas.openxmlformats.org/drawingml/2006/main">
            <a:pPr algn="l">
              <a:buNone/>
              <a:defRPr sz="1950" b="0">
                <a:solidFill>
                  <a:srgbClr val="526579"/>
                </a:solidFill>
                <a:latin typeface="Arial"/>
                <a:ea typeface="Arial"/>
                <a:cs typeface="Arial"/>
              </a:defRPr>
            </a:pPr>
            <a:r>
              <a:rPr sz="1950" b="0">
                <a:solidFill>
                  <a:srgbClr val="526579"/>
                </a:solidFill>
                <a:latin typeface="Arial"/>
                <a:ea typeface="Arial"/>
                <a:cs typeface="Arial"/>
              </a:rPr>
              <a:t>Training rows only, n = 2,628. Means describe configurations in this sample.</a:t>
            </a:r>
          </a:p>
        </p:txBody>
      </p:sp>
      <p:sp>
        <p:nvSpPr>
          <p:cNvPr id="7" name="eda-interpretation">
            <a:extLst xmlns:a="http://schemas.openxmlformats.org/drawingml/2006/main">
              <a:ext uri="{FF2B5EF4-FFF2-40B4-BE49-F238E27FC236}">
                <a16:creationId xmlns:a16="http://schemas.microsoft.com/office/drawing/2014/main" id="{7C40F1D6-45F2-4CFA-BD87-4BB645BCC146}"/>
              </a:ext>
            </a:extLst>
          </p:cNvPr>
          <p:cNvSpPr>
            <a:spLocks xmlns:a="http://schemas.openxmlformats.org/drawingml/2006/main" noGrp="1"/>
          </p:cNvSpPr>
          <p:nvPr/>
        </p:nvSpPr>
        <p:spPr>
          <a:xfrm xmlns:a="http://schemas.openxmlformats.org/drawingml/2006/main">
            <a:off x="609600" y="5753100"/>
            <a:ext cx="10934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02238"/>
                </a:solidFill>
                <a:latin typeface="Arial"/>
                <a:ea typeface="Arial"/>
                <a:cs typeface="Arial"/>
              </a:defRPr>
            </a:defPPr>
          </a:lstStyle>
          <a:p xmlns:a="http://schemas.openxmlformats.org/drawingml/2006/main">
            <a:pPr algn="l">
              <a:buNone/>
              <a:defRPr sz="1950" b="0">
                <a:solidFill>
                  <a:srgbClr val="102238"/>
                </a:solidFill>
                <a:latin typeface="Arial"/>
                <a:ea typeface="Arial"/>
                <a:cs typeface="Arial"/>
              </a:defRPr>
            </a:pPr>
            <a:r>
              <a:rPr sz="1950" b="0">
                <a:solidFill>
                  <a:srgbClr val="102238"/>
                </a:solidFill>
                <a:latin typeface="Arial"/>
                <a:ea typeface="Arial"/>
                <a:cs typeface="Arial"/>
              </a:rPr>
              <a:t>Engine size and vehicle class provide predictive context.</a:t>
            </a:r>
          </a:p>
          <a:p xmlns:a="http://schemas.openxmlformats.org/drawingml/2006/main">
            <a:pPr algn="l">
              <a:buNone/>
              <a:defRPr sz="1950" b="0">
                <a:solidFill>
                  <a:srgbClr val="102238"/>
                </a:solidFill>
                <a:latin typeface="Arial"/>
                <a:ea typeface="Arial"/>
                <a:cs typeface="Arial"/>
              </a:defRPr>
            </a:pPr>
            <a:r>
              <a:rPr sz="1950" b="0">
                <a:solidFill>
                  <a:srgbClr val="102238"/>
                </a:solidFill>
                <a:latin typeface="Arial"/>
                <a:ea typeface="Arial"/>
                <a:cs typeface="Arial"/>
              </a:rPr>
              <a:t>Group means and correlations do not establish causal effects.</a:t>
            </a:r>
          </a:p>
        </p:txBody>
      </p:sp>
      <p:graphicFrame>
        <p:nvGraphicFramePr>
          <p:cNvPr id="9" name="Chart">
            <a:extLst xmlns:a="http://schemas.openxmlformats.org/drawingml/2006/main">
              <a:ext uri="{FF2B5EF4-FFF2-40B4-BE49-F238E27FC236}">
                <a16:creationId xmlns:a16="http://schemas.microsoft.com/office/drawing/2014/main" id="{0D01B3F4-6050-44C3-90D5-6EF78D118EF1}"/>
              </a:ext>
            </a:extLst>
          </p:cNvPr>
          <p:cNvGraphicFramePr/>
          <p:nvPr/>
        </p:nvGraphicFramePr>
        <p:xfrm>
          <a:off xmlns:a="http://schemas.openxmlformats.org/drawingml/2006/main" x="609600" y="1771650"/>
          <a:ext xmlns:a="http://schemas.openxmlformats.org/drawingml/2006/main" cx="5238750" cy="3714750"/>
        </p:xfrm>
        <a:graphic xmlns:a="http://schemas.openxmlformats.org/drawingml/2006/main">
          <a:graphicData uri="http://schemas.openxmlformats.org/drawingml/2006/chart">
            <c:chart xmlns:r="http://schemas.openxmlformats.org/officeDocument/2006/relationships" xmlns:c="http://schemas.openxmlformats.org/drawingml/2006/chart" r:id="R3adb5ac1e48c4360"/>
          </a:graphicData>
        </a:graphic>
      </p:graphicFrame>
      <p:graphicFrame>
        <p:nvGraphicFramePr>
          <p:cNvPr id="10" name="Chart">
            <a:extLst xmlns:a="http://schemas.openxmlformats.org/drawingml/2006/main">
              <a:ext uri="{FF2B5EF4-FFF2-40B4-BE49-F238E27FC236}">
                <a16:creationId xmlns:a16="http://schemas.microsoft.com/office/drawing/2014/main" id="{8FD4B6FC-FBDF-404D-A257-8434F03E32DC}"/>
              </a:ext>
            </a:extLst>
          </p:cNvPr>
          <p:cNvGraphicFramePr/>
          <p:nvPr/>
        </p:nvGraphicFramePr>
        <p:xfrm>
          <a:off xmlns:a="http://schemas.openxmlformats.org/drawingml/2006/main" x="6324600" y="1771650"/>
          <a:ext xmlns:a="http://schemas.openxmlformats.org/drawingml/2006/main" cx="5238750" cy="3714750"/>
        </p:xfrm>
        <a:graphic xmlns:a="http://schemas.openxmlformats.org/drawingml/2006/main">
          <a:graphicData uri="http://schemas.openxmlformats.org/drawingml/2006/chart">
            <c:chart xmlns:r="http://schemas.openxmlformats.org/officeDocument/2006/relationships" xmlns:c="http://schemas.openxmlformats.org/drawingml/2006/chart" r:id="Rbb0642cd76044663"/>
          </a:graphicData>
        </a:graphic>
      </p:graphicFrame>
    </p:spTree>
    <p:extLst>
      <p:ext uri="{BB962C8B-B14F-4D97-AF65-F5344CB8AC3E}">
        <p14:creationId xmlns:p14="http://schemas.microsoft.com/office/powerpoint/2010/main" val="20467582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C30A9B24-E20E-49C9-8B21-DCA24A65A8B2}"/>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238"/>
                </a:solidFill>
                <a:latin typeface="Arial"/>
                <a:ea typeface="Arial"/>
                <a:cs typeface="Arial"/>
              </a:defRPr>
            </a:defPPr>
          </a:lstStyle>
          <a:p xmlns:a="http://schemas.openxmlformats.org/drawingml/2006/main">
            <a:pPr algn="l">
              <a:buNone/>
              <a:defRPr sz="3300" b="1">
                <a:solidFill>
                  <a:srgbClr val="102238"/>
                </a:solidFill>
                <a:latin typeface="Arial"/>
                <a:ea typeface="Arial"/>
                <a:cs typeface="Arial"/>
              </a:defRPr>
            </a:pPr>
            <a:r>
              <a:rPr sz="3300" b="1">
                <a:solidFill>
                  <a:srgbClr val="102238"/>
                </a:solidFill>
                <a:latin typeface="Arial"/>
                <a:ea typeface="Arial"/>
                <a:cs typeface="Arial"/>
              </a:rPr>
              <a:t>Predictors and preprocessing</a:t>
            </a:r>
          </a:p>
        </p:txBody>
      </p:sp>
      <p:sp>
        <p:nvSpPr>
          <p:cNvPr id="2" name="footer">
            <a:extLst xmlns:a="http://schemas.openxmlformats.org/drawingml/2006/main">
              <a:ext uri="{FF2B5EF4-FFF2-40B4-BE49-F238E27FC236}">
                <a16:creationId xmlns:a16="http://schemas.microsoft.com/office/drawing/2014/main" id="{8A8B45DA-3741-4E35-B212-B941ACC6EB89}"/>
              </a:ext>
            </a:extLst>
          </p:cNvPr>
          <p:cNvSpPr>
            <a:spLocks xmlns:a="http://schemas.openxmlformats.org/drawingml/2006/main" noGrp="1"/>
          </p:cNvSpPr>
          <p:nvPr/>
        </p:nvSpPr>
        <p:spPr>
          <a:xfrm xmlns:a="http://schemas.openxmlformats.org/drawingml/2006/main">
            <a:off x="609600" y="647700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26579"/>
                </a:solidFill>
                <a:latin typeface="Arial"/>
                <a:ea typeface="Arial"/>
                <a:cs typeface="Arial"/>
              </a:defRPr>
            </a:defPPr>
          </a:lstStyle>
          <a:p xmlns:a="http://schemas.openxmlformats.org/drawingml/2006/main">
            <a:pPr algn="l">
              <a:buNone/>
              <a:defRPr sz="1200" b="0">
                <a:solidFill>
                  <a:srgbClr val="526579"/>
                </a:solidFill>
                <a:latin typeface="Arial"/>
                <a:ea typeface="Arial"/>
                <a:cs typeface="Arial"/>
              </a:defRPr>
            </a:pPr>
            <a:r>
              <a:rPr sz="1200" b="0">
                <a:solidFill>
                  <a:srgbClr val="526579"/>
                </a:solidFill>
                <a:latin typeface="Arial"/>
                <a:ea typeface="Arial"/>
                <a:cs typeface="Arial"/>
              </a:rPr>
              <a:t>SE-2421   EPA combined consumption   benchmark_2015_2025_20261009</a:t>
            </a:r>
          </a:p>
        </p:txBody>
      </p:sp>
      <p:sp>
        <p:nvSpPr>
          <p:cNvPr id="3" name="page-number">
            <a:extLst xmlns:a="http://schemas.openxmlformats.org/drawingml/2006/main">
              <a:ext uri="{FF2B5EF4-FFF2-40B4-BE49-F238E27FC236}">
                <a16:creationId xmlns:a16="http://schemas.microsoft.com/office/drawing/2014/main" id="{75465F90-6014-4B9C-82F6-7DB96BA2BDE6}"/>
              </a:ext>
            </a:extLst>
          </p:cNvPr>
          <p:cNvSpPr>
            <a:spLocks xmlns:a="http://schemas.openxmlformats.org/drawingml/2006/main" noGrp="1"/>
          </p:cNvSpPr>
          <p:nvPr/>
        </p:nvSpPr>
        <p:spPr>
          <a:xfrm xmlns:a="http://schemas.openxmlformats.org/drawingml/2006/main">
            <a:off x="11182350" y="647700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Arial"/>
                <a:ea typeface="Arial"/>
                <a:cs typeface="Arial"/>
              </a:defRPr>
            </a:defPPr>
          </a:lstStyle>
          <a:p xmlns:a="http://schemas.openxmlformats.org/drawingml/2006/main">
            <a:pPr algn="r">
              <a:buNone/>
              <a:defRPr sz="1200" b="0">
                <a:solidFill>
                  <a:srgbClr val="526579"/>
                </a:solidFill>
                <a:latin typeface="Arial"/>
                <a:ea typeface="Arial"/>
                <a:cs typeface="Arial"/>
              </a:defRPr>
            </a:pPr>
            <a:r>
              <a:rPr sz="1200" b="0">
                <a:solidFill>
                  <a:srgbClr val="526579"/>
                </a:solidFill>
                <a:latin typeface="Arial"/>
                <a:ea typeface="Arial"/>
                <a:cs typeface="Arial"/>
              </a:rPr>
              <a:t>4/8</a:t>
            </a:r>
          </a:p>
        </p:txBody>
      </p:sp>
      <p:sp>
        <p:nvSpPr>
          <p:cNvPr id="4" name="feature-heading">
            <a:extLst xmlns:a="http://schemas.openxmlformats.org/drawingml/2006/main">
              <a:ext uri="{FF2B5EF4-FFF2-40B4-BE49-F238E27FC236}">
                <a16:creationId xmlns:a16="http://schemas.microsoft.com/office/drawing/2014/main" id="{C09288A9-BCDF-46F1-A039-9AAF560DA323}"/>
              </a:ext>
            </a:extLst>
          </p:cNvPr>
          <p:cNvSpPr>
            <a:spLocks xmlns:a="http://schemas.openxmlformats.org/drawingml/2006/main" noGrp="1"/>
          </p:cNvSpPr>
          <p:nvPr/>
        </p:nvSpPr>
        <p:spPr>
          <a:xfrm xmlns:a="http://schemas.openxmlformats.org/drawingml/2006/main">
            <a:off x="609600" y="1495425"/>
            <a:ext cx="571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02238"/>
                </a:solidFill>
                <a:latin typeface="Arial"/>
                <a:ea typeface="Arial"/>
                <a:cs typeface="Arial"/>
              </a:defRPr>
            </a:defPPr>
          </a:lstStyle>
          <a:p xmlns:a="http://schemas.openxmlformats.org/drawingml/2006/main">
            <a:pPr algn="l">
              <a:buNone/>
              <a:defRPr sz="2400" b="1">
                <a:solidFill>
                  <a:srgbClr val="102238"/>
                </a:solidFill>
                <a:latin typeface="Arial"/>
                <a:ea typeface="Arial"/>
                <a:cs typeface="Arial"/>
              </a:defRPr>
            </a:pPr>
            <a:r>
              <a:rPr sz="2400" b="1">
                <a:solidFill>
                  <a:srgbClr val="102238"/>
                </a:solidFill>
                <a:latin typeface="Arial"/>
                <a:ea typeface="Arial"/>
                <a:cs typeface="Arial"/>
              </a:rPr>
              <a:t>Seven structured predictors</a:t>
            </a:r>
          </a:p>
        </p:txBody>
      </p:sp>
      <p:sp>
        <p:nvSpPr>
          <p:cNvPr id="5" name="numeric-features">
            <a:extLst xmlns:a="http://schemas.openxmlformats.org/drawingml/2006/main">
              <a:ext uri="{FF2B5EF4-FFF2-40B4-BE49-F238E27FC236}">
                <a16:creationId xmlns:a16="http://schemas.microsoft.com/office/drawing/2014/main" id="{913002F8-9D6C-44C6-A62A-7AD8F33623A0}"/>
              </a:ext>
            </a:extLst>
          </p:cNvPr>
          <p:cNvSpPr>
            <a:spLocks xmlns:a="http://schemas.openxmlformats.org/drawingml/2006/main" noGrp="1"/>
          </p:cNvSpPr>
          <p:nvPr/>
        </p:nvSpPr>
        <p:spPr>
          <a:xfrm xmlns:a="http://schemas.openxmlformats.org/drawingml/2006/main">
            <a:off x="609600" y="2257425"/>
            <a:ext cx="57912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02238"/>
                </a:solidFill>
                <a:latin typeface="Arial"/>
                <a:ea typeface="Arial"/>
                <a:cs typeface="Arial"/>
              </a:defRPr>
            </a:defPPr>
          </a:lstStyle>
          <a:p xmlns:a="http://schemas.openxmlformats.org/drawingml/2006/main">
            <a:pPr algn="l">
              <a:buNone/>
              <a:defRPr sz="2100" b="0">
                <a:solidFill>
                  <a:srgbClr val="102238"/>
                </a:solidFill>
                <a:latin typeface="Arial"/>
                <a:ea typeface="Arial"/>
                <a:cs typeface="Arial"/>
              </a:defRPr>
            </a:pPr>
            <a:r>
              <a:rPr sz="2100" b="0">
                <a:solidFill>
                  <a:srgbClr val="102238"/>
                </a:solidFill>
                <a:latin typeface="Arial"/>
                <a:ea typeface="Arial"/>
                <a:cs typeface="Arial"/>
              </a:rPr>
              <a:t>Numeric</a:t>
            </a:r>
          </a:p>
          <a:p xmlns:a="http://schemas.openxmlformats.org/drawingml/2006/main">
            <a:pPr algn="l">
              <a:buNone/>
              <a:defRPr sz="2100" b="0">
                <a:solidFill>
                  <a:srgbClr val="102238"/>
                </a:solidFill>
                <a:latin typeface="Arial"/>
                <a:ea typeface="Arial"/>
                <a:cs typeface="Arial"/>
              </a:defRPr>
            </a:pPr>
            <a:r>
              <a:rPr sz="2100" b="0">
                <a:solidFill>
                  <a:srgbClr val="102238"/>
                </a:solidFill>
                <a:latin typeface="Arial"/>
                <a:ea typeface="Arial"/>
                <a:cs typeface="Arial"/>
              </a:rPr>
              <a:t>Model year, displacement, cylinders</a:t>
            </a:r>
          </a:p>
        </p:txBody>
      </p:sp>
      <p:sp>
        <p:nvSpPr>
          <p:cNvPr id="6" name="categorical-features">
            <a:extLst xmlns:a="http://schemas.openxmlformats.org/drawingml/2006/main">
              <a:ext uri="{FF2B5EF4-FFF2-40B4-BE49-F238E27FC236}">
                <a16:creationId xmlns:a16="http://schemas.microsoft.com/office/drawing/2014/main" id="{7F8B34C7-04CC-4861-9BCF-54C70388B0DA}"/>
              </a:ext>
            </a:extLst>
          </p:cNvPr>
          <p:cNvSpPr>
            <a:spLocks xmlns:a="http://schemas.openxmlformats.org/drawingml/2006/main" noGrp="1"/>
          </p:cNvSpPr>
          <p:nvPr/>
        </p:nvSpPr>
        <p:spPr>
          <a:xfrm xmlns:a="http://schemas.openxmlformats.org/drawingml/2006/main">
            <a:off x="609600" y="3552825"/>
            <a:ext cx="57912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02238"/>
                </a:solidFill>
                <a:latin typeface="Arial"/>
                <a:ea typeface="Arial"/>
                <a:cs typeface="Arial"/>
              </a:defRPr>
            </a:defPPr>
          </a:lstStyle>
          <a:p xmlns:a="http://schemas.openxmlformats.org/drawingml/2006/main">
            <a:pPr algn="l">
              <a:buNone/>
              <a:defRPr sz="2100" b="0">
                <a:solidFill>
                  <a:srgbClr val="102238"/>
                </a:solidFill>
                <a:latin typeface="Arial"/>
                <a:ea typeface="Arial"/>
                <a:cs typeface="Arial"/>
              </a:defRPr>
            </a:pPr>
            <a:r>
              <a:rPr sz="2100" b="0">
                <a:solidFill>
                  <a:srgbClr val="102238"/>
                </a:solidFill>
                <a:latin typeface="Arial"/>
                <a:ea typeface="Arial"/>
                <a:cs typeface="Arial"/>
              </a:rPr>
              <a:t>Categorical</a:t>
            </a:r>
          </a:p>
          <a:p xmlns:a="http://schemas.openxmlformats.org/drawingml/2006/main">
            <a:pPr algn="l">
              <a:buNone/>
              <a:defRPr sz="2100" b="0">
                <a:solidFill>
                  <a:srgbClr val="102238"/>
                </a:solidFill>
                <a:latin typeface="Arial"/>
                <a:ea typeface="Arial"/>
                <a:cs typeface="Arial"/>
              </a:defRPr>
            </a:pPr>
            <a:r>
              <a:rPr sz="2100" b="0">
                <a:solidFill>
                  <a:srgbClr val="102238"/>
                </a:solidFill>
                <a:latin typeface="Arial"/>
                <a:ea typeface="Arial"/>
                <a:cs typeface="Arial"/>
              </a:rPr>
              <a:t>Manufacturer, transmission, drivetrain, class</a:t>
            </a:r>
          </a:p>
        </p:txBody>
      </p:sp>
      <p:sp>
        <p:nvSpPr>
          <p:cNvPr id="7" name="pipeline-heading">
            <a:extLst xmlns:a="http://schemas.openxmlformats.org/drawingml/2006/main">
              <a:ext uri="{FF2B5EF4-FFF2-40B4-BE49-F238E27FC236}">
                <a16:creationId xmlns:a16="http://schemas.microsoft.com/office/drawing/2014/main" id="{C6E4BD71-C607-4C19-91F9-0D4E93C4CF2F}"/>
              </a:ext>
            </a:extLst>
          </p:cNvPr>
          <p:cNvSpPr>
            <a:spLocks xmlns:a="http://schemas.openxmlformats.org/drawingml/2006/main" noGrp="1"/>
          </p:cNvSpPr>
          <p:nvPr/>
        </p:nvSpPr>
        <p:spPr>
          <a:xfrm xmlns:a="http://schemas.openxmlformats.org/drawingml/2006/main">
            <a:off x="7219950" y="1495425"/>
            <a:ext cx="43529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02238"/>
                </a:solidFill>
                <a:latin typeface="Arial"/>
                <a:ea typeface="Arial"/>
                <a:cs typeface="Arial"/>
              </a:defRPr>
            </a:defPPr>
          </a:lstStyle>
          <a:p xmlns:a="http://schemas.openxmlformats.org/drawingml/2006/main">
            <a:pPr algn="l">
              <a:buNone/>
              <a:defRPr sz="2400" b="1">
                <a:solidFill>
                  <a:srgbClr val="102238"/>
                </a:solidFill>
                <a:latin typeface="Arial"/>
                <a:ea typeface="Arial"/>
                <a:cs typeface="Arial"/>
              </a:defRPr>
            </a:pPr>
            <a:r>
              <a:rPr sz="2400" b="1">
                <a:solidFill>
                  <a:srgbClr val="102238"/>
                </a:solidFill>
                <a:latin typeface="Arial"/>
                <a:ea typeface="Arial"/>
                <a:cs typeface="Arial"/>
              </a:rPr>
              <a:t>Fit inside each training fold</a:t>
            </a:r>
          </a:p>
        </p:txBody>
      </p:sp>
      <p:sp>
        <p:nvSpPr>
          <p:cNvPr id="8" name="pipeline-body">
            <a:extLst xmlns:a="http://schemas.openxmlformats.org/drawingml/2006/main">
              <a:ext uri="{FF2B5EF4-FFF2-40B4-BE49-F238E27FC236}">
                <a16:creationId xmlns:a16="http://schemas.microsoft.com/office/drawing/2014/main" id="{A7771C1C-5FA3-46D8-A048-DFF9C46C9897}"/>
              </a:ext>
            </a:extLst>
          </p:cNvPr>
          <p:cNvSpPr>
            <a:spLocks xmlns:a="http://schemas.openxmlformats.org/drawingml/2006/main" noGrp="1"/>
          </p:cNvSpPr>
          <p:nvPr/>
        </p:nvSpPr>
        <p:spPr>
          <a:xfrm xmlns:a="http://schemas.openxmlformats.org/drawingml/2006/main">
            <a:off x="7219950" y="2247900"/>
            <a:ext cx="4381500" cy="2838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02238"/>
                </a:solidFill>
                <a:latin typeface="Arial"/>
                <a:ea typeface="Arial"/>
                <a:cs typeface="Arial"/>
              </a:defRPr>
            </a:defPPr>
          </a:lstStyle>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Numeric median imputation</a:t>
            </a:r>
          </a:p>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Missing indicators and scaling</a:t>
            </a:r>
          </a:p>
          <a:p xmlns:a="http://schemas.openxmlformats.org/drawingml/2006/main">
            <a:r>
              <a:t/>
            </a:r>
          </a:p>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Unknown categorical values</a:t>
            </a:r>
          </a:p>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One-hot encoding</a:t>
            </a:r>
          </a:p>
          <a:p xmlns:a="http://schemas.openxmlformats.org/drawingml/2006/main">
            <a:r>
              <a:t/>
            </a:r>
          </a:p>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Saved preprocessing plus estimator</a:t>
            </a:r>
          </a:p>
        </p:txBody>
      </p:sp>
      <p:sp>
        <p:nvSpPr>
          <p:cNvPr id="9" name="leakage-rule">
            <a:extLst xmlns:a="http://schemas.openxmlformats.org/drawingml/2006/main">
              <a:ext uri="{FF2B5EF4-FFF2-40B4-BE49-F238E27FC236}">
                <a16:creationId xmlns:a16="http://schemas.microsoft.com/office/drawing/2014/main" id="{20120328-7560-4ED2-9BEC-75F9A322DF70}"/>
              </a:ext>
            </a:extLst>
          </p:cNvPr>
          <p:cNvSpPr>
            <a:spLocks xmlns:a="http://schemas.openxmlformats.org/drawingml/2006/main" noGrp="1"/>
          </p:cNvSpPr>
          <p:nvPr/>
        </p:nvSpPr>
        <p:spPr>
          <a:xfrm xmlns:a="http://schemas.openxmlformats.org/drawingml/2006/main">
            <a:off x="609600" y="5600700"/>
            <a:ext cx="109442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26579"/>
                </a:solidFill>
                <a:latin typeface="Arial"/>
                <a:ea typeface="Arial"/>
                <a:cs typeface="Arial"/>
              </a:defRPr>
            </a:defPPr>
          </a:lstStyle>
          <a:p xmlns:a="http://schemas.openxmlformats.org/drawingml/2006/main">
            <a:pPr algn="l">
              <a:buNone/>
              <a:defRPr sz="1950" b="0">
                <a:solidFill>
                  <a:srgbClr val="526579"/>
                </a:solidFill>
                <a:latin typeface="Arial"/>
                <a:ea typeface="Arial"/>
                <a:cs typeface="Arial"/>
              </a:defRPr>
            </a:pPr>
            <a:r>
              <a:rPr sz="1950" b="0">
                <a:solidFill>
                  <a:srgbClr val="526579"/>
                </a:solidFill>
                <a:latin typeface="Arial"/>
                <a:ea typeface="Arial"/>
                <a:cs typeface="Arial"/>
              </a:rPr>
              <a:t>Other fuel-economy values, costs, emissions and scores stay outside X.</a:t>
            </a:r>
          </a:p>
          <a:p xmlns:a="http://schemas.openxmlformats.org/drawingml/2006/main">
            <a:pPr algn="l">
              <a:buNone/>
              <a:defRPr sz="1950" b="0">
                <a:solidFill>
                  <a:srgbClr val="526579"/>
                </a:solidFill>
                <a:latin typeface="Arial"/>
                <a:ea typeface="Arial"/>
                <a:cs typeface="Arial"/>
              </a:defRPr>
            </a:pPr>
            <a:r>
              <a:rPr sz="1950" b="0">
                <a:solidFill>
                  <a:srgbClr val="526579"/>
                </a:solidFill>
                <a:latin typeface="Arial"/>
                <a:ea typeface="Arial"/>
                <a:cs typeface="Arial"/>
              </a:rPr>
              <a:t>Model names and engine text remain reserved for Final experiments.</a:t>
            </a:r>
          </a:p>
        </p:txBody>
      </p:sp>
    </p:spTree>
    <p:extLst>
      <p:ext uri="{BB962C8B-B14F-4D97-AF65-F5344CB8AC3E}">
        <p14:creationId xmlns:p14="http://schemas.microsoft.com/office/powerpoint/2010/main" val="1422945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179BD6C-97EF-4880-978B-75A75627A715}"/>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238"/>
                </a:solidFill>
                <a:latin typeface="Arial"/>
                <a:ea typeface="Arial"/>
                <a:cs typeface="Arial"/>
              </a:defRPr>
            </a:defPPr>
          </a:lstStyle>
          <a:p xmlns:a="http://schemas.openxmlformats.org/drawingml/2006/main">
            <a:pPr algn="l">
              <a:buNone/>
              <a:defRPr sz="3300" b="1">
                <a:solidFill>
                  <a:srgbClr val="102238"/>
                </a:solidFill>
                <a:latin typeface="Arial"/>
                <a:ea typeface="Arial"/>
                <a:cs typeface="Arial"/>
              </a:defRPr>
            </a:pPr>
            <a:r>
              <a:rPr sz="3300" b="1">
                <a:solidFill>
                  <a:srgbClr val="102238"/>
                </a:solidFill>
                <a:latin typeface="Arial"/>
                <a:ea typeface="Arial"/>
                <a:cs typeface="Arial"/>
              </a:rPr>
              <a:t>Family split and regression models</a:t>
            </a:r>
          </a:p>
        </p:txBody>
      </p:sp>
      <p:sp>
        <p:nvSpPr>
          <p:cNvPr id="2" name="footer">
            <a:extLst xmlns:a="http://schemas.openxmlformats.org/drawingml/2006/main">
              <a:ext uri="{FF2B5EF4-FFF2-40B4-BE49-F238E27FC236}">
                <a16:creationId xmlns:a16="http://schemas.microsoft.com/office/drawing/2014/main" id="{A9A623D9-5ED3-4F7A-9E06-ECE99D836461}"/>
              </a:ext>
            </a:extLst>
          </p:cNvPr>
          <p:cNvSpPr>
            <a:spLocks xmlns:a="http://schemas.openxmlformats.org/drawingml/2006/main" noGrp="1"/>
          </p:cNvSpPr>
          <p:nvPr/>
        </p:nvSpPr>
        <p:spPr>
          <a:xfrm xmlns:a="http://schemas.openxmlformats.org/drawingml/2006/main">
            <a:off x="609600" y="647700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26579"/>
                </a:solidFill>
                <a:latin typeface="Arial"/>
                <a:ea typeface="Arial"/>
                <a:cs typeface="Arial"/>
              </a:defRPr>
            </a:defPPr>
          </a:lstStyle>
          <a:p xmlns:a="http://schemas.openxmlformats.org/drawingml/2006/main">
            <a:pPr algn="l">
              <a:buNone/>
              <a:defRPr sz="1200" b="0">
                <a:solidFill>
                  <a:srgbClr val="526579"/>
                </a:solidFill>
                <a:latin typeface="Arial"/>
                <a:ea typeface="Arial"/>
                <a:cs typeface="Arial"/>
              </a:defRPr>
            </a:pPr>
            <a:r>
              <a:rPr sz="1200" b="0">
                <a:solidFill>
                  <a:srgbClr val="526579"/>
                </a:solidFill>
                <a:latin typeface="Arial"/>
                <a:ea typeface="Arial"/>
                <a:cs typeface="Arial"/>
              </a:rPr>
              <a:t>SE-2421   EPA combined consumption   benchmark_2015_2025_20261009</a:t>
            </a:r>
          </a:p>
        </p:txBody>
      </p:sp>
      <p:sp>
        <p:nvSpPr>
          <p:cNvPr id="3" name="page-number">
            <a:extLst xmlns:a="http://schemas.openxmlformats.org/drawingml/2006/main">
              <a:ext uri="{FF2B5EF4-FFF2-40B4-BE49-F238E27FC236}">
                <a16:creationId xmlns:a16="http://schemas.microsoft.com/office/drawing/2014/main" id="{9CA6917B-3D90-468D-B019-D69F230118F0}"/>
              </a:ext>
            </a:extLst>
          </p:cNvPr>
          <p:cNvSpPr>
            <a:spLocks xmlns:a="http://schemas.openxmlformats.org/drawingml/2006/main" noGrp="1"/>
          </p:cNvSpPr>
          <p:nvPr/>
        </p:nvSpPr>
        <p:spPr>
          <a:xfrm xmlns:a="http://schemas.openxmlformats.org/drawingml/2006/main">
            <a:off x="11182350" y="647700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Arial"/>
                <a:ea typeface="Arial"/>
                <a:cs typeface="Arial"/>
              </a:defRPr>
            </a:defPPr>
          </a:lstStyle>
          <a:p xmlns:a="http://schemas.openxmlformats.org/drawingml/2006/main">
            <a:pPr algn="r">
              <a:buNone/>
              <a:defRPr sz="1200" b="0">
                <a:solidFill>
                  <a:srgbClr val="526579"/>
                </a:solidFill>
                <a:latin typeface="Arial"/>
                <a:ea typeface="Arial"/>
                <a:cs typeface="Arial"/>
              </a:defRPr>
            </a:pPr>
            <a:r>
              <a:rPr sz="1200" b="0">
                <a:solidFill>
                  <a:srgbClr val="526579"/>
                </a:solidFill>
                <a:latin typeface="Arial"/>
                <a:ea typeface="Arial"/>
                <a:cs typeface="Arial"/>
              </a:rPr>
              <a:t>5/8</a:t>
            </a:r>
          </a:p>
        </p:txBody>
      </p:sp>
      <p:sp>
        <p:nvSpPr>
          <p:cNvPr id="4" name="split-counts">
            <a:extLst xmlns:a="http://schemas.openxmlformats.org/drawingml/2006/main">
              <a:ext uri="{FF2B5EF4-FFF2-40B4-BE49-F238E27FC236}">
                <a16:creationId xmlns:a16="http://schemas.microsoft.com/office/drawing/2014/main" id="{57856342-B888-4751-8E1F-10DDB81BE224}"/>
              </a:ext>
            </a:extLst>
          </p:cNvPr>
          <p:cNvSpPr>
            <a:spLocks xmlns:a="http://schemas.openxmlformats.org/drawingml/2006/main" noGrp="1"/>
          </p:cNvSpPr>
          <p:nvPr/>
        </p:nvSpPr>
        <p:spPr>
          <a:xfrm xmlns:a="http://schemas.openxmlformats.org/drawingml/2006/main">
            <a:off x="609600" y="1600200"/>
            <a:ext cx="4095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02238"/>
                </a:solidFill>
                <a:latin typeface="Arial"/>
                <a:ea typeface="Arial"/>
                <a:cs typeface="Arial"/>
              </a:defRPr>
            </a:defPPr>
          </a:lstStyle>
          <a:p xmlns:a="http://schemas.openxmlformats.org/drawingml/2006/main">
            <a:pPr algn="l">
              <a:buNone/>
              <a:defRPr sz="2775" b="1">
                <a:solidFill>
                  <a:srgbClr val="102238"/>
                </a:solidFill>
                <a:latin typeface="Arial"/>
                <a:ea typeface="Arial"/>
                <a:cs typeface="Arial"/>
              </a:defRPr>
            </a:pPr>
            <a:r>
              <a:rPr sz="2775" b="1">
                <a:solidFill>
                  <a:srgbClr val="102238"/>
                </a:solidFill>
                <a:latin typeface="Arial"/>
                <a:ea typeface="Arial"/>
                <a:cs typeface="Arial"/>
              </a:rPr>
              <a:t>2,628 train rows</a:t>
            </a:r>
          </a:p>
          <a:p xmlns:a="http://schemas.openxmlformats.org/drawingml/2006/main">
            <a:pPr algn="l">
              <a:buNone/>
              <a:defRPr sz="2775" b="1">
                <a:solidFill>
                  <a:srgbClr val="102238"/>
                </a:solidFill>
                <a:latin typeface="Arial"/>
                <a:ea typeface="Arial"/>
                <a:cs typeface="Arial"/>
              </a:defRPr>
            </a:pPr>
            <a:r>
              <a:rPr sz="2775" b="1">
                <a:solidFill>
                  <a:srgbClr val="102238"/>
                </a:solidFill>
                <a:latin typeface="Arial"/>
                <a:ea typeface="Arial"/>
                <a:cs typeface="Arial"/>
              </a:rPr>
              <a:t>619 test rows</a:t>
            </a:r>
          </a:p>
        </p:txBody>
      </p:sp>
      <p:sp>
        <p:nvSpPr>
          <p:cNvPr id="5" name="split-groups">
            <a:extLst xmlns:a="http://schemas.openxmlformats.org/drawingml/2006/main">
              <a:ext uri="{FF2B5EF4-FFF2-40B4-BE49-F238E27FC236}">
                <a16:creationId xmlns:a16="http://schemas.microsoft.com/office/drawing/2014/main" id="{B79722FC-9E33-4D8A-9772-3463DAD80B38}"/>
              </a:ext>
            </a:extLst>
          </p:cNvPr>
          <p:cNvSpPr>
            <a:spLocks xmlns:a="http://schemas.openxmlformats.org/drawingml/2006/main" noGrp="1"/>
          </p:cNvSpPr>
          <p:nvPr/>
        </p:nvSpPr>
        <p:spPr>
          <a:xfrm xmlns:a="http://schemas.openxmlformats.org/drawingml/2006/main">
            <a:off x="609600" y="3048000"/>
            <a:ext cx="4276725" cy="1933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02238"/>
                </a:solidFill>
                <a:latin typeface="Arial"/>
                <a:ea typeface="Arial"/>
                <a:cs typeface="Arial"/>
              </a:defRPr>
            </a:defPPr>
          </a:lstStyle>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311 train families</a:t>
            </a:r>
          </a:p>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78 test families</a:t>
            </a:r>
          </a:p>
          <a:p xmlns:a="http://schemas.openxmlformats.org/drawingml/2006/main">
            <a:r>
              <a:t/>
            </a:r>
          </a:p>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20% of groups for test, seed 42</a:t>
            </a:r>
          </a:p>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Five training GroupKFold folds</a:t>
            </a:r>
          </a:p>
        </p:txBody>
      </p:sp>
      <p:sp>
        <p:nvSpPr>
          <p:cNvPr id="6" name="group-definition">
            <a:extLst xmlns:a="http://schemas.openxmlformats.org/drawingml/2006/main">
              <a:ext uri="{FF2B5EF4-FFF2-40B4-BE49-F238E27FC236}">
                <a16:creationId xmlns:a16="http://schemas.microsoft.com/office/drawing/2014/main" id="{BA796146-086B-4EA5-A049-5DE0E989BBDF}"/>
              </a:ext>
            </a:extLst>
          </p:cNvPr>
          <p:cNvSpPr>
            <a:spLocks xmlns:a="http://schemas.openxmlformats.org/drawingml/2006/main" noGrp="1"/>
          </p:cNvSpPr>
          <p:nvPr/>
        </p:nvSpPr>
        <p:spPr>
          <a:xfrm xmlns:a="http://schemas.openxmlformats.org/drawingml/2006/main">
            <a:off x="609600" y="536257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79"/>
                </a:solidFill>
                <a:latin typeface="Arial"/>
                <a:ea typeface="Arial"/>
                <a:cs typeface="Arial"/>
              </a:defRPr>
            </a:defPPr>
          </a:lstStyle>
          <a:p xmlns:a="http://schemas.openxmlformats.org/drawingml/2006/main">
            <a:pPr algn="l">
              <a:buNone/>
              <a:defRPr sz="1875" b="0">
                <a:solidFill>
                  <a:srgbClr val="526579"/>
                </a:solidFill>
                <a:latin typeface="Arial"/>
                <a:ea typeface="Arial"/>
                <a:cs typeface="Arial"/>
              </a:defRPr>
            </a:pPr>
            <a:r>
              <a:rPr sz="1875" b="0">
                <a:solidFill>
                  <a:srgbClr val="526579"/>
                </a:solidFill>
                <a:latin typeface="Arial"/>
                <a:ea typeface="Arial"/>
                <a:cs typeface="Arial"/>
              </a:rPr>
              <a:t>Manufacturer plus base model</a:t>
            </a:r>
          </a:p>
          <a:p xmlns:a="http://schemas.openxmlformats.org/drawingml/2006/main">
            <a:pPr algn="l">
              <a:buNone/>
              <a:defRPr sz="1875" b="0">
                <a:solidFill>
                  <a:srgbClr val="526579"/>
                </a:solidFill>
                <a:latin typeface="Arial"/>
                <a:ea typeface="Arial"/>
                <a:cs typeface="Arial"/>
              </a:defRPr>
            </a:pPr>
            <a:r>
              <a:rPr sz="1875" b="0">
                <a:solidFill>
                  <a:srgbClr val="526579"/>
                </a:solidFill>
                <a:latin typeface="Arial"/>
                <a:ea typeface="Arial"/>
                <a:cs typeface="Arial"/>
              </a:rPr>
              <a:t>One family stays together across years</a:t>
            </a:r>
          </a:p>
        </p:txBody>
      </p:sp>
      <p:graphicFrame>
        <p:nvGraphicFramePr>
          <p:cNvPr id="7" name="">
            <a:extLst xmlns:a="http://schemas.openxmlformats.org/drawingml/2006/main">
              <a:ext uri="{FF2B5EF4-FFF2-40B4-BE49-F238E27FC236}">
                <a16:creationId xmlns:a16="http://schemas.microsoft.com/office/drawing/2014/main" id="{1A96BC20-C1A0-4412-9117-B2FC1490C9BC}"/>
              </a:ext>
            </a:extLst>
          </p:cNvPr>
          <p:cNvGraphicFramePr/>
          <p:nvPr/>
        </p:nvGraphicFramePr>
        <p:xfrm>
          <a:off xmlns:a="http://schemas.openxmlformats.org/drawingml/2006/main" x="5095875" y="1628775"/>
          <a:ext xmlns:a="http://schemas.openxmlformats.org/drawingml/2006/main" cx="6477000" cy="3209925"/>
        </p:xfrm>
        <a:graphic xmlns:a="http://schemas.openxmlformats.org/drawingml/2006/main">
          <a:graphicData uri="http://schemas.openxmlformats.org/drawingml/2006/table">
            <a:tbl>
              <a:tblPr/>
              <a:tblGrid>
                <a:gridCol w="2266950"/>
                <a:gridCol w="4210050"/>
              </a:tblGrid>
              <a:tr h="641985">
                <a:tc>
                  <a:txBody>
                    <a:bodyPr lIns="95250" tIns="95250" rIns="95250" bIns="95250"/>
                    <a:lstStyle/>
                    <a:p>
                      <a:r>
                        <a:rPr sz="1800" b="1">
                          <a:solidFill>
                            <a:srgbClr val="FFFFFF"/>
                          </a:solidFill>
                          <a:latin typeface="Arial"/>
                          <a:ea typeface="Arial"/>
                          <a:cs typeface="Arial"/>
                        </a:rPr>
                        <a:t>Model</a:t>
                      </a:r>
                    </a:p>
                  </a:txBody>
                  <a:tcPr marL="91440" marR="91440" marT="45720" marB="45720" anchor="ctr">
                    <a:solidFill>
                      <a:srgbClr val="102238"/>
                    </a:solidFill>
                  </a:tcPr>
                </a:tc>
                <a:tc>
                  <a:txBody>
                    <a:bodyPr lIns="95250" tIns="95250" rIns="95250" bIns="95250"/>
                    <a:lstStyle/>
                    <a:p>
                      <a:r>
                        <a:rPr sz="1800" b="1">
                          <a:solidFill>
                            <a:srgbClr val="FFFFFF"/>
                          </a:solidFill>
                          <a:latin typeface="Arial"/>
                          <a:ea typeface="Arial"/>
                          <a:cs typeface="Arial"/>
                        </a:rPr>
                        <a:t>Fixed starting parameters</a:t>
                      </a:r>
                    </a:p>
                  </a:txBody>
                  <a:tcPr marL="91440" marR="91440" marT="45720" marB="45720" anchor="ctr">
                    <a:solidFill>
                      <a:srgbClr val="102238"/>
                    </a:solidFill>
                  </a:tcPr>
                </a:tc>
              </a:tr>
              <a:tr h="641985">
                <a:tc>
                  <a:txBody>
                    <a:bodyPr lIns="95250" tIns="95250" rIns="95250" bIns="95250"/>
                    <a:lstStyle/>
                    <a:p>
                      <a:r>
                        <a:rPr sz="1800" b="0">
                          <a:solidFill>
                            <a:srgbClr val="102238"/>
                          </a:solidFill>
                          <a:latin typeface="Arial"/>
                          <a:ea typeface="Arial"/>
                          <a:cs typeface="Arial"/>
                        </a:rPr>
                        <a:t>Dummy</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Training-target median</a:t>
                      </a:r>
                    </a:p>
                  </a:txBody>
                  <a:tcPr marL="91440" marR="91440" marT="45720" marB="45720" anchor="ctr">
                    <a:solidFill>
                      <a:srgbClr val="FFFFFF"/>
                    </a:solidFill>
                  </a:tcPr>
                </a:tc>
              </a:tr>
              <a:tr h="641985">
                <a:tc>
                  <a:txBody>
                    <a:bodyPr lIns="95250" tIns="95250" rIns="95250" bIns="95250"/>
                    <a:lstStyle/>
                    <a:p>
                      <a:r>
                        <a:rPr sz="1800" b="0">
                          <a:solidFill>
                            <a:srgbClr val="102238"/>
                          </a:solidFill>
                          <a:latin typeface="Arial"/>
                          <a:ea typeface="Arial"/>
                          <a:cs typeface="Arial"/>
                        </a:rPr>
                        <a:t>Linear regression</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Intercept enabled</a:t>
                      </a:r>
                    </a:p>
                  </a:txBody>
                  <a:tcPr marL="91440" marR="91440" marT="45720" marB="45720" anchor="ctr">
                    <a:solidFill>
                      <a:srgbClr val="FFFFFF"/>
                    </a:solidFill>
                  </a:tcPr>
                </a:tc>
              </a:tr>
              <a:tr h="641985">
                <a:tc>
                  <a:txBody>
                    <a:bodyPr lIns="95250" tIns="95250" rIns="95250" bIns="95250"/>
                    <a:lstStyle/>
                    <a:p>
                      <a:r>
                        <a:rPr sz="1800" b="0">
                          <a:solidFill>
                            <a:srgbClr val="102238"/>
                          </a:solidFill>
                          <a:latin typeface="Arial"/>
                          <a:ea typeface="Arial"/>
                          <a:cs typeface="Arial"/>
                        </a:rPr>
                        <a:t>KNN regression</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k = 15, distance weights, p = 2</a:t>
                      </a:r>
                    </a:p>
                  </a:txBody>
                  <a:tcPr marL="91440" marR="91440" marT="45720" marB="45720" anchor="ctr">
                    <a:solidFill>
                      <a:srgbClr val="FFFFFF"/>
                    </a:solidFill>
                  </a:tcPr>
                </a:tc>
              </a:tr>
              <a:tr h="641985">
                <a:tc>
                  <a:txBody>
                    <a:bodyPr lIns="95250" tIns="95250" rIns="95250" bIns="95250"/>
                    <a:lstStyle/>
                    <a:p>
                      <a:r>
                        <a:rPr sz="1800" b="0">
                          <a:solidFill>
                            <a:srgbClr val="102238"/>
                          </a:solidFill>
                          <a:latin typeface="Arial"/>
                          <a:ea typeface="Arial"/>
                          <a:cs typeface="Arial"/>
                        </a:rPr>
                        <a:t>Decision tree</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Depth 8, leaf minimum 10, seed 42</a:t>
                      </a:r>
                    </a:p>
                  </a:txBody>
                  <a:tcPr marL="91440" marR="91440" marT="45720" marB="45720" anchor="ctr">
                    <a:solidFill>
                      <a:srgbClr val="FFFFFF"/>
                    </a:solidFill>
                  </a:tcPr>
                </a:tc>
              </a:tr>
            </a:tbl>
          </a:graphicData>
        </a:graphic>
      </p:graphicFrame>
      <p:sp>
        <p:nvSpPr>
          <p:cNvPr id="8" name="selection-protocol">
            <a:extLst xmlns:a="http://schemas.openxmlformats.org/drawingml/2006/main">
              <a:ext uri="{FF2B5EF4-FFF2-40B4-BE49-F238E27FC236}">
                <a16:creationId xmlns:a16="http://schemas.microsoft.com/office/drawing/2014/main" id="{B4C860EF-1E58-4F6F-9776-287A995AF68B}"/>
              </a:ext>
            </a:extLst>
          </p:cNvPr>
          <p:cNvSpPr>
            <a:spLocks xmlns:a="http://schemas.openxmlformats.org/drawingml/2006/main" noGrp="1"/>
          </p:cNvSpPr>
          <p:nvPr/>
        </p:nvSpPr>
        <p:spPr>
          <a:xfrm xmlns:a="http://schemas.openxmlformats.org/drawingml/2006/main">
            <a:off x="5095875" y="5276850"/>
            <a:ext cx="647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02238"/>
                </a:solidFill>
                <a:latin typeface="Arial"/>
                <a:ea typeface="Arial"/>
                <a:cs typeface="Arial"/>
              </a:defRPr>
            </a:defPPr>
          </a:lstStyle>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Selection uses mean training CV MAE.</a:t>
            </a:r>
          </a:p>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The test split stays fixed across course stages.</a:t>
            </a:r>
          </a:p>
        </p:txBody>
      </p:sp>
    </p:spTree>
    <p:extLst>
      <p:ext uri="{BB962C8B-B14F-4D97-AF65-F5344CB8AC3E}">
        <p14:creationId xmlns:p14="http://schemas.microsoft.com/office/powerpoint/2010/main" val="17746947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6983DB1B-231F-40BB-9DA5-596790CC1C2A}"/>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238"/>
                </a:solidFill>
                <a:latin typeface="Arial"/>
                <a:ea typeface="Arial"/>
                <a:cs typeface="Arial"/>
              </a:defRPr>
            </a:defPPr>
          </a:lstStyle>
          <a:p xmlns:a="http://schemas.openxmlformats.org/drawingml/2006/main">
            <a:pPr algn="l">
              <a:buNone/>
              <a:defRPr sz="3300" b="1">
                <a:solidFill>
                  <a:srgbClr val="102238"/>
                </a:solidFill>
                <a:latin typeface="Arial"/>
                <a:ea typeface="Arial"/>
                <a:cs typeface="Arial"/>
              </a:defRPr>
            </a:pPr>
            <a:r>
              <a:rPr sz="3300" b="1">
                <a:solidFill>
                  <a:srgbClr val="102238"/>
                </a:solidFill>
                <a:latin typeface="Arial"/>
                <a:ea typeface="Arial"/>
                <a:cs typeface="Arial"/>
              </a:rPr>
              <a:t>Cross-validation and test results</a:t>
            </a:r>
          </a:p>
        </p:txBody>
      </p:sp>
      <p:sp>
        <p:nvSpPr>
          <p:cNvPr id="2" name="footer">
            <a:extLst xmlns:a="http://schemas.openxmlformats.org/drawingml/2006/main">
              <a:ext uri="{FF2B5EF4-FFF2-40B4-BE49-F238E27FC236}">
                <a16:creationId xmlns:a16="http://schemas.microsoft.com/office/drawing/2014/main" id="{F6CE73DF-A712-4A7C-922D-98EEDF050D8C}"/>
              </a:ext>
            </a:extLst>
          </p:cNvPr>
          <p:cNvSpPr>
            <a:spLocks xmlns:a="http://schemas.openxmlformats.org/drawingml/2006/main" noGrp="1"/>
          </p:cNvSpPr>
          <p:nvPr/>
        </p:nvSpPr>
        <p:spPr>
          <a:xfrm xmlns:a="http://schemas.openxmlformats.org/drawingml/2006/main">
            <a:off x="609600" y="647700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26579"/>
                </a:solidFill>
                <a:latin typeface="Arial"/>
                <a:ea typeface="Arial"/>
                <a:cs typeface="Arial"/>
              </a:defRPr>
            </a:defPPr>
          </a:lstStyle>
          <a:p xmlns:a="http://schemas.openxmlformats.org/drawingml/2006/main">
            <a:pPr algn="l">
              <a:buNone/>
              <a:defRPr sz="1200" b="0">
                <a:solidFill>
                  <a:srgbClr val="526579"/>
                </a:solidFill>
                <a:latin typeface="Arial"/>
                <a:ea typeface="Arial"/>
                <a:cs typeface="Arial"/>
              </a:defRPr>
            </a:pPr>
            <a:r>
              <a:rPr sz="1200" b="0">
                <a:solidFill>
                  <a:srgbClr val="526579"/>
                </a:solidFill>
                <a:latin typeface="Arial"/>
                <a:ea typeface="Arial"/>
                <a:cs typeface="Arial"/>
              </a:rPr>
              <a:t>SE-2421   EPA combined consumption   benchmark_2015_2025_20261009</a:t>
            </a:r>
          </a:p>
        </p:txBody>
      </p:sp>
      <p:sp>
        <p:nvSpPr>
          <p:cNvPr id="3" name="page-number">
            <a:extLst xmlns:a="http://schemas.openxmlformats.org/drawingml/2006/main">
              <a:ext uri="{FF2B5EF4-FFF2-40B4-BE49-F238E27FC236}">
                <a16:creationId xmlns:a16="http://schemas.microsoft.com/office/drawing/2014/main" id="{9FBA7CD0-372D-408F-841A-C2886CB4D503}"/>
              </a:ext>
            </a:extLst>
          </p:cNvPr>
          <p:cNvSpPr>
            <a:spLocks xmlns:a="http://schemas.openxmlformats.org/drawingml/2006/main" noGrp="1"/>
          </p:cNvSpPr>
          <p:nvPr/>
        </p:nvSpPr>
        <p:spPr>
          <a:xfrm xmlns:a="http://schemas.openxmlformats.org/drawingml/2006/main">
            <a:off x="11182350" y="647700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Arial"/>
                <a:ea typeface="Arial"/>
                <a:cs typeface="Arial"/>
              </a:defRPr>
            </a:defPPr>
          </a:lstStyle>
          <a:p xmlns:a="http://schemas.openxmlformats.org/drawingml/2006/main">
            <a:pPr algn="r">
              <a:buNone/>
              <a:defRPr sz="1200" b="0">
                <a:solidFill>
                  <a:srgbClr val="526579"/>
                </a:solidFill>
                <a:latin typeface="Arial"/>
                <a:ea typeface="Arial"/>
                <a:cs typeface="Arial"/>
              </a:defRPr>
            </a:pPr>
            <a:r>
              <a:rPr sz="1200" b="0">
                <a:solidFill>
                  <a:srgbClr val="526579"/>
                </a:solidFill>
                <a:latin typeface="Arial"/>
                <a:ea typeface="Arial"/>
                <a:cs typeface="Arial"/>
              </a:rPr>
              <a:t>6/8</a:t>
            </a:r>
          </a:p>
        </p:txBody>
      </p:sp>
      <p:graphicFrame>
        <p:nvGraphicFramePr>
          <p:cNvPr id="4" name="">
            <a:extLst xmlns:a="http://schemas.openxmlformats.org/drawingml/2006/main">
              <a:ext uri="{FF2B5EF4-FFF2-40B4-BE49-F238E27FC236}">
                <a16:creationId xmlns:a16="http://schemas.microsoft.com/office/drawing/2014/main" id="{985E2C6B-8C4C-4AA8-8528-FAC016A80D60}"/>
              </a:ext>
            </a:extLst>
          </p:cNvPr>
          <p:cNvGraphicFramePr/>
          <p:nvPr/>
        </p:nvGraphicFramePr>
        <p:xfrm>
          <a:off xmlns:a="http://schemas.openxmlformats.org/drawingml/2006/main" x="609600" y="1495425"/>
          <a:ext xmlns:a="http://schemas.openxmlformats.org/drawingml/2006/main" cx="10972800" cy="2781300"/>
        </p:xfrm>
        <a:graphic xmlns:a="http://schemas.openxmlformats.org/drawingml/2006/main">
          <a:graphicData uri="http://schemas.openxmlformats.org/drawingml/2006/table">
            <a:tbl>
              <a:tblPr/>
              <a:tblGrid>
                <a:gridCol w="2686050"/>
                <a:gridCol w="1657350"/>
                <a:gridCol w="1657350"/>
                <a:gridCol w="1657350"/>
                <a:gridCol w="1657350"/>
                <a:gridCol w="1657350"/>
              </a:tblGrid>
              <a:tr h="556260">
                <a:tc>
                  <a:txBody>
                    <a:bodyPr lIns="95250" tIns="95250" rIns="95250" bIns="95250"/>
                    <a:lstStyle/>
                    <a:p>
                      <a:r>
                        <a:rPr sz="1800" b="1">
                          <a:solidFill>
                            <a:srgbClr val="FFFFFF"/>
                          </a:solidFill>
                          <a:latin typeface="Arial"/>
                          <a:ea typeface="Arial"/>
                          <a:cs typeface="Arial"/>
                        </a:rPr>
                        <a:t>Model</a:t>
                      </a:r>
                    </a:p>
                  </a:txBody>
                  <a:tcPr marL="91440" marR="91440" marT="45720" marB="45720" anchor="ctr">
                    <a:solidFill>
                      <a:srgbClr val="102238"/>
                    </a:solidFill>
                  </a:tcPr>
                </a:tc>
                <a:tc>
                  <a:txBody>
                    <a:bodyPr lIns="95250" tIns="95250" rIns="95250" bIns="95250"/>
                    <a:lstStyle/>
                    <a:p>
                      <a:r>
                        <a:rPr sz="1800" b="1">
                          <a:solidFill>
                            <a:srgbClr val="FFFFFF"/>
                          </a:solidFill>
                          <a:latin typeface="Arial"/>
                          <a:ea typeface="Arial"/>
                          <a:cs typeface="Arial"/>
                        </a:rPr>
                        <a:t>CV MAE</a:t>
                      </a:r>
                    </a:p>
                  </a:txBody>
                  <a:tcPr marL="91440" marR="91440" marT="45720" marB="45720" anchor="ctr">
                    <a:solidFill>
                      <a:srgbClr val="102238"/>
                    </a:solidFill>
                  </a:tcPr>
                </a:tc>
                <a:tc>
                  <a:txBody>
                    <a:bodyPr lIns="95250" tIns="95250" rIns="95250" bIns="95250"/>
                    <a:lstStyle/>
                    <a:p>
                      <a:r>
                        <a:rPr sz="1800" b="1">
                          <a:solidFill>
                            <a:srgbClr val="FFFFFF"/>
                          </a:solidFill>
                          <a:latin typeface="Arial"/>
                          <a:ea typeface="Arial"/>
                          <a:cs typeface="Arial"/>
                        </a:rPr>
                        <a:t>CV std</a:t>
                      </a:r>
                    </a:p>
                  </a:txBody>
                  <a:tcPr marL="91440" marR="91440" marT="45720" marB="45720" anchor="ctr">
                    <a:solidFill>
                      <a:srgbClr val="102238"/>
                    </a:solidFill>
                  </a:tcPr>
                </a:tc>
                <a:tc>
                  <a:txBody>
                    <a:bodyPr lIns="95250" tIns="95250" rIns="95250" bIns="95250"/>
                    <a:lstStyle/>
                    <a:p>
                      <a:r>
                        <a:rPr sz="1800" b="1">
                          <a:solidFill>
                            <a:srgbClr val="FFFFFF"/>
                          </a:solidFill>
                          <a:latin typeface="Arial"/>
                          <a:ea typeface="Arial"/>
                          <a:cs typeface="Arial"/>
                        </a:rPr>
                        <a:t>Test MAE</a:t>
                      </a:r>
                    </a:p>
                  </a:txBody>
                  <a:tcPr marL="91440" marR="91440" marT="45720" marB="45720" anchor="ctr">
                    <a:solidFill>
                      <a:srgbClr val="102238"/>
                    </a:solidFill>
                  </a:tcPr>
                </a:tc>
                <a:tc>
                  <a:txBody>
                    <a:bodyPr lIns="95250" tIns="95250" rIns="95250" bIns="95250"/>
                    <a:lstStyle/>
                    <a:p>
                      <a:r>
                        <a:rPr sz="1800" b="1">
                          <a:solidFill>
                            <a:srgbClr val="FFFFFF"/>
                          </a:solidFill>
                          <a:latin typeface="Arial"/>
                          <a:ea typeface="Arial"/>
                          <a:cs typeface="Arial"/>
                        </a:rPr>
                        <a:t>Test RMSE</a:t>
                      </a:r>
                    </a:p>
                  </a:txBody>
                  <a:tcPr marL="91440" marR="91440" marT="45720" marB="45720" anchor="ctr">
                    <a:solidFill>
                      <a:srgbClr val="102238"/>
                    </a:solidFill>
                  </a:tcPr>
                </a:tc>
                <a:tc>
                  <a:txBody>
                    <a:bodyPr lIns="95250" tIns="95250" rIns="95250" bIns="95250"/>
                    <a:lstStyle/>
                    <a:p>
                      <a:r>
                        <a:rPr sz="1800" b="1">
                          <a:solidFill>
                            <a:srgbClr val="FFFFFF"/>
                          </a:solidFill>
                          <a:latin typeface="Arial"/>
                          <a:ea typeface="Arial"/>
                          <a:cs typeface="Arial"/>
                        </a:rPr>
                        <a:t>Test R²</a:t>
                      </a:r>
                    </a:p>
                  </a:txBody>
                  <a:tcPr marL="91440" marR="91440" marT="45720" marB="45720" anchor="ctr">
                    <a:solidFill>
                      <a:srgbClr val="102238"/>
                    </a:solidFill>
                  </a:tcPr>
                </a:tc>
              </a:tr>
              <a:tr h="556260">
                <a:tc>
                  <a:txBody>
                    <a:bodyPr lIns="95250" tIns="95250" rIns="95250" bIns="95250"/>
                    <a:lstStyle/>
                    <a:p>
                      <a:r>
                        <a:rPr sz="1800" b="0">
                          <a:solidFill>
                            <a:srgbClr val="102238"/>
                          </a:solidFill>
                          <a:latin typeface="Arial"/>
                          <a:ea typeface="Arial"/>
                          <a:cs typeface="Arial"/>
                        </a:rPr>
                        <a:t>Median baseline</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2.209</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0.305</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2.597</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3.137</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-0.017</a:t>
                      </a:r>
                    </a:p>
                  </a:txBody>
                  <a:tcPr marL="91440" marR="91440" marT="45720" marB="45720" anchor="ctr">
                    <a:solidFill>
                      <a:srgbClr val="FFFFFF"/>
                    </a:solidFill>
                  </a:tcPr>
                </a:tc>
              </a:tr>
              <a:tr h="556260">
                <a:tc>
                  <a:txBody>
                    <a:bodyPr lIns="95250" tIns="95250" rIns="95250" bIns="95250"/>
                    <a:lstStyle/>
                    <a:p>
                      <a:r>
                        <a:rPr sz="1800" b="0">
                          <a:solidFill>
                            <a:srgbClr val="102238"/>
                          </a:solidFill>
                          <a:latin typeface="Arial"/>
                          <a:ea typeface="Arial"/>
                          <a:cs typeface="Arial"/>
                        </a:rPr>
                        <a:t>Linear regression</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0.813</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0.120</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0.714</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0.900</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0.916</a:t>
                      </a:r>
                    </a:p>
                  </a:txBody>
                  <a:tcPr marL="91440" marR="91440" marT="45720" marB="45720" anchor="ctr">
                    <a:solidFill>
                      <a:srgbClr val="FFFFFF"/>
                    </a:solidFill>
                  </a:tcPr>
                </a:tc>
              </a:tr>
              <a:tr h="556260">
                <a:tc>
                  <a:txBody>
                    <a:bodyPr lIns="95250" tIns="95250" rIns="95250" bIns="95250"/>
                    <a:lstStyle/>
                    <a:p>
                      <a:r>
                        <a:rPr sz="1800" b="0">
                          <a:solidFill>
                            <a:srgbClr val="102238"/>
                          </a:solidFill>
                          <a:latin typeface="Arial"/>
                          <a:ea typeface="Arial"/>
                          <a:cs typeface="Arial"/>
                        </a:rPr>
                        <a:t>KNN regression</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0.914</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0.070</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0.692</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0.907</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0.915</a:t>
                      </a:r>
                    </a:p>
                  </a:txBody>
                  <a:tcPr marL="91440" marR="91440" marT="45720" marB="45720" anchor="ctr">
                    <a:solidFill>
                      <a:srgbClr val="FFFFFF"/>
                    </a:solidFill>
                  </a:tcPr>
                </a:tc>
              </a:tr>
              <a:tr h="556260">
                <a:tc>
                  <a:txBody>
                    <a:bodyPr lIns="95250" tIns="95250" rIns="95250" bIns="95250"/>
                    <a:lstStyle/>
                    <a:p>
                      <a:r>
                        <a:rPr sz="1800" b="0">
                          <a:solidFill>
                            <a:srgbClr val="102238"/>
                          </a:solidFill>
                          <a:latin typeface="Arial"/>
                          <a:ea typeface="Arial"/>
                          <a:cs typeface="Arial"/>
                        </a:rPr>
                        <a:t>Decision tree</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0.892</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0.061</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0.917</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1.413</a:t>
                      </a:r>
                    </a:p>
                  </a:txBody>
                  <a:tcPr marL="91440" marR="91440" marT="45720" marB="45720" anchor="ctr">
                    <a:solidFill>
                      <a:srgbClr val="FFFFFF"/>
                    </a:solidFill>
                  </a:tcPr>
                </a:tc>
                <a:tc>
                  <a:txBody>
                    <a:bodyPr lIns="95250" tIns="95250" rIns="95250" bIns="95250"/>
                    <a:lstStyle/>
                    <a:p>
                      <a:r>
                        <a:rPr sz="1800" b="0">
                          <a:solidFill>
                            <a:srgbClr val="102238"/>
                          </a:solidFill>
                          <a:latin typeface="Arial"/>
                          <a:ea typeface="Arial"/>
                          <a:cs typeface="Arial"/>
                        </a:rPr>
                        <a:t>0.794</a:t>
                      </a:r>
                    </a:p>
                  </a:txBody>
                  <a:tcPr marL="91440" marR="91440" marT="45720" marB="45720" anchor="ctr">
                    <a:solidFill>
                      <a:srgbClr val="FFFFFF"/>
                    </a:solidFill>
                  </a:tcPr>
                </a:tc>
              </a:tr>
            </a:tbl>
          </a:graphicData>
        </a:graphic>
      </p:graphicFrame>
      <p:sp>
        <p:nvSpPr>
          <p:cNvPr id="6" name="cv-winner">
            <a:extLst xmlns:a="http://schemas.openxmlformats.org/drawingml/2006/main">
              <a:ext uri="{FF2B5EF4-FFF2-40B4-BE49-F238E27FC236}">
                <a16:creationId xmlns:a16="http://schemas.microsoft.com/office/drawing/2014/main" id="{6F2E5805-F667-4826-BD53-E7282E27B2AC}"/>
              </a:ext>
            </a:extLst>
          </p:cNvPr>
          <p:cNvSpPr>
            <a:spLocks xmlns:a="http://schemas.openxmlformats.org/drawingml/2006/main" noGrp="1"/>
          </p:cNvSpPr>
          <p:nvPr/>
        </p:nvSpPr>
        <p:spPr>
          <a:xfrm xmlns:a="http://schemas.openxmlformats.org/drawingml/2006/main">
            <a:off x="6667500" y="4648200"/>
            <a:ext cx="48196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087D9A"/>
                </a:solidFill>
                <a:latin typeface="Arial"/>
                <a:ea typeface="Arial"/>
                <a:cs typeface="Arial"/>
              </a:defRPr>
            </a:defPPr>
          </a:lstStyle>
          <a:p xmlns:a="http://schemas.openxmlformats.org/drawingml/2006/main">
            <a:pPr algn="l">
              <a:buNone/>
              <a:defRPr sz="2325" b="1">
                <a:solidFill>
                  <a:srgbClr val="087D9A"/>
                </a:solidFill>
                <a:latin typeface="Arial"/>
                <a:ea typeface="Arial"/>
                <a:cs typeface="Arial"/>
              </a:defRPr>
            </a:pPr>
            <a:r>
              <a:rPr sz="2325" b="1">
                <a:solidFill>
                  <a:srgbClr val="087D9A"/>
                </a:solidFill>
                <a:latin typeface="Arial"/>
                <a:ea typeface="Arial"/>
                <a:cs typeface="Arial"/>
              </a:rPr>
              <a:t>Linear regression wins by CV MAE</a:t>
            </a:r>
          </a:p>
        </p:txBody>
      </p:sp>
      <p:sp>
        <p:nvSpPr>
          <p:cNvPr id="7" name="test-improvement">
            <a:extLst xmlns:a="http://schemas.openxmlformats.org/drawingml/2006/main">
              <a:ext uri="{FF2B5EF4-FFF2-40B4-BE49-F238E27FC236}">
                <a16:creationId xmlns:a16="http://schemas.microsoft.com/office/drawing/2014/main" id="{4A509E5A-F6A4-4383-AED5-E9CC816B6FFA}"/>
              </a:ext>
            </a:extLst>
          </p:cNvPr>
          <p:cNvSpPr>
            <a:spLocks xmlns:a="http://schemas.openxmlformats.org/drawingml/2006/main" noGrp="1"/>
          </p:cNvSpPr>
          <p:nvPr/>
        </p:nvSpPr>
        <p:spPr>
          <a:xfrm xmlns:a="http://schemas.openxmlformats.org/drawingml/2006/main">
            <a:off x="6667500" y="5600700"/>
            <a:ext cx="4819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02238"/>
                </a:solidFill>
                <a:latin typeface="Arial"/>
                <a:ea typeface="Arial"/>
                <a:cs typeface="Arial"/>
              </a:defRPr>
            </a:defPPr>
          </a:lstStyle>
          <a:p xmlns:a="http://schemas.openxmlformats.org/drawingml/2006/main">
            <a:pPr algn="l">
              <a:buNone/>
              <a:defRPr sz="1950" b="0">
                <a:solidFill>
                  <a:srgbClr val="102238"/>
                </a:solidFill>
                <a:latin typeface="Arial"/>
                <a:ea typeface="Arial"/>
                <a:cs typeface="Arial"/>
              </a:defRPr>
            </a:pPr>
            <a:r>
              <a:rPr sz="1950" b="0">
                <a:solidFill>
                  <a:srgbClr val="102238"/>
                </a:solidFill>
                <a:latin typeface="Arial"/>
                <a:ea typeface="Arial"/>
                <a:cs typeface="Arial"/>
              </a:rPr>
              <a:t>72.5% lower test MAE than the median baseline</a:t>
            </a:r>
          </a:p>
        </p:txBody>
      </p:sp>
      <p:graphicFrame>
        <p:nvGraphicFramePr>
          <p:cNvPr id="9" name="Chart">
            <a:extLst xmlns:a="http://schemas.openxmlformats.org/drawingml/2006/main">
              <a:ext uri="{FF2B5EF4-FFF2-40B4-BE49-F238E27FC236}">
                <a16:creationId xmlns:a16="http://schemas.microsoft.com/office/drawing/2014/main" id="{F3389745-748B-4A20-A565-A15FA72522B7}"/>
              </a:ext>
            </a:extLst>
          </p:cNvPr>
          <p:cNvGraphicFramePr/>
          <p:nvPr/>
        </p:nvGraphicFramePr>
        <p:xfrm>
          <a:off xmlns:a="http://schemas.openxmlformats.org/drawingml/2006/main" x="609600" y="4543425"/>
          <a:ext xmlns:a="http://schemas.openxmlformats.org/drawingml/2006/main" cx="5334000" cy="1695450"/>
        </p:xfrm>
        <a:graphic xmlns:a="http://schemas.openxmlformats.org/drawingml/2006/main">
          <a:graphicData uri="http://schemas.openxmlformats.org/drawingml/2006/chart">
            <c:chart xmlns:r="http://schemas.openxmlformats.org/officeDocument/2006/relationships" xmlns:c="http://schemas.openxmlformats.org/drawingml/2006/chart" r:id="Rd22778b3ff914f05"/>
          </a:graphicData>
        </a:graphic>
      </p:graphicFrame>
    </p:spTree>
    <p:extLst>
      <p:ext uri="{BB962C8B-B14F-4D97-AF65-F5344CB8AC3E}">
        <p14:creationId xmlns:p14="http://schemas.microsoft.com/office/powerpoint/2010/main" val="3858042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FEFD2877-B060-404A-BA1B-CEC759BAD695}"/>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238"/>
                </a:solidFill>
                <a:latin typeface="Arial"/>
                <a:ea typeface="Arial"/>
                <a:cs typeface="Arial"/>
              </a:defRPr>
            </a:defPPr>
          </a:lstStyle>
          <a:p xmlns:a="http://schemas.openxmlformats.org/drawingml/2006/main">
            <a:pPr algn="l">
              <a:buNone/>
              <a:defRPr sz="3300" b="1">
                <a:solidFill>
                  <a:srgbClr val="102238"/>
                </a:solidFill>
                <a:latin typeface="Arial"/>
                <a:ea typeface="Arial"/>
                <a:cs typeface="Arial"/>
              </a:defRPr>
            </a:pPr>
            <a:r>
              <a:rPr sz="3300" b="1">
                <a:solidFill>
                  <a:srgbClr val="102238"/>
                </a:solidFill>
                <a:latin typeface="Arial"/>
                <a:ea typeface="Arial"/>
                <a:cs typeface="Arial"/>
              </a:rPr>
              <a:t>Errors by class and engine size</a:t>
            </a:r>
          </a:p>
        </p:txBody>
      </p:sp>
      <p:sp>
        <p:nvSpPr>
          <p:cNvPr id="2" name="footer">
            <a:extLst xmlns:a="http://schemas.openxmlformats.org/drawingml/2006/main">
              <a:ext uri="{FF2B5EF4-FFF2-40B4-BE49-F238E27FC236}">
                <a16:creationId xmlns:a16="http://schemas.microsoft.com/office/drawing/2014/main" id="{46228C0D-BC91-4603-BB2B-18880B372EDB}"/>
              </a:ext>
            </a:extLst>
          </p:cNvPr>
          <p:cNvSpPr>
            <a:spLocks xmlns:a="http://schemas.openxmlformats.org/drawingml/2006/main" noGrp="1"/>
          </p:cNvSpPr>
          <p:nvPr/>
        </p:nvSpPr>
        <p:spPr>
          <a:xfrm xmlns:a="http://schemas.openxmlformats.org/drawingml/2006/main">
            <a:off x="609600" y="647700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26579"/>
                </a:solidFill>
                <a:latin typeface="Arial"/>
                <a:ea typeface="Arial"/>
                <a:cs typeface="Arial"/>
              </a:defRPr>
            </a:defPPr>
          </a:lstStyle>
          <a:p xmlns:a="http://schemas.openxmlformats.org/drawingml/2006/main">
            <a:pPr algn="l">
              <a:buNone/>
              <a:defRPr sz="1200" b="0">
                <a:solidFill>
                  <a:srgbClr val="526579"/>
                </a:solidFill>
                <a:latin typeface="Arial"/>
                <a:ea typeface="Arial"/>
                <a:cs typeface="Arial"/>
              </a:defRPr>
            </a:pPr>
            <a:r>
              <a:rPr sz="1200" b="0">
                <a:solidFill>
                  <a:srgbClr val="526579"/>
                </a:solidFill>
                <a:latin typeface="Arial"/>
                <a:ea typeface="Arial"/>
                <a:cs typeface="Arial"/>
              </a:rPr>
              <a:t>SE-2421   EPA combined consumption   benchmark_2015_2025_20261009</a:t>
            </a:r>
          </a:p>
        </p:txBody>
      </p:sp>
      <p:sp>
        <p:nvSpPr>
          <p:cNvPr id="3" name="page-number">
            <a:extLst xmlns:a="http://schemas.openxmlformats.org/drawingml/2006/main">
              <a:ext uri="{FF2B5EF4-FFF2-40B4-BE49-F238E27FC236}">
                <a16:creationId xmlns:a16="http://schemas.microsoft.com/office/drawing/2014/main" id="{75BA9C37-FD2D-4434-AE92-90FBCFF68B21}"/>
              </a:ext>
            </a:extLst>
          </p:cNvPr>
          <p:cNvSpPr>
            <a:spLocks xmlns:a="http://schemas.openxmlformats.org/drawingml/2006/main" noGrp="1"/>
          </p:cNvSpPr>
          <p:nvPr/>
        </p:nvSpPr>
        <p:spPr>
          <a:xfrm xmlns:a="http://schemas.openxmlformats.org/drawingml/2006/main">
            <a:off x="11182350" y="647700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Arial"/>
                <a:ea typeface="Arial"/>
                <a:cs typeface="Arial"/>
              </a:defRPr>
            </a:defPPr>
          </a:lstStyle>
          <a:p xmlns:a="http://schemas.openxmlformats.org/drawingml/2006/main">
            <a:pPr algn="r">
              <a:buNone/>
              <a:defRPr sz="1200" b="0">
                <a:solidFill>
                  <a:srgbClr val="526579"/>
                </a:solidFill>
                <a:latin typeface="Arial"/>
                <a:ea typeface="Arial"/>
                <a:cs typeface="Arial"/>
              </a:defRPr>
            </a:pPr>
            <a:r>
              <a:rPr sz="1200" b="0">
                <a:solidFill>
                  <a:srgbClr val="526579"/>
                </a:solidFill>
                <a:latin typeface="Arial"/>
                <a:ea typeface="Arial"/>
                <a:cs typeface="Arial"/>
              </a:rPr>
              <a:t>7/8</a:t>
            </a:r>
          </a:p>
        </p:txBody>
      </p:sp>
      <p:graphicFrame>
        <p:nvGraphicFramePr>
          <p:cNvPr id="4" name="">
            <a:extLst xmlns:a="http://schemas.openxmlformats.org/drawingml/2006/main">
              <a:ext uri="{FF2B5EF4-FFF2-40B4-BE49-F238E27FC236}">
                <a16:creationId xmlns:a16="http://schemas.microsoft.com/office/drawing/2014/main" id="{52734106-6537-45FC-AF6A-51F216281898}"/>
              </a:ext>
            </a:extLst>
          </p:cNvPr>
          <p:cNvGraphicFramePr/>
          <p:nvPr/>
        </p:nvGraphicFramePr>
        <p:xfrm>
          <a:off xmlns:a="http://schemas.openxmlformats.org/drawingml/2006/main" x="609600" y="1609725"/>
          <a:ext xmlns:a="http://schemas.openxmlformats.org/drawingml/2006/main" cx="6400800" cy="3048000"/>
        </p:xfrm>
        <a:graphic xmlns:a="http://schemas.openxmlformats.org/drawingml/2006/main">
          <a:graphicData uri="http://schemas.openxmlformats.org/drawingml/2006/table">
            <a:tbl>
              <a:tblPr/>
              <a:tblGrid>
                <a:gridCol w="3724275"/>
                <a:gridCol w="676275"/>
                <a:gridCol w="1000125"/>
                <a:gridCol w="1000125"/>
              </a:tblGrid>
              <a:tr h="508000">
                <a:tc>
                  <a:txBody>
                    <a:bodyPr lIns="95250" tIns="95250" rIns="95250" bIns="95250"/>
                    <a:lstStyle/>
                    <a:p>
                      <a:r>
                        <a:rPr sz="1725" b="1">
                          <a:solidFill>
                            <a:srgbClr val="FFFFFF"/>
                          </a:solidFill>
                          <a:latin typeface="Arial"/>
                          <a:ea typeface="Arial"/>
                          <a:cs typeface="Arial"/>
                        </a:rPr>
                        <a:t>Class, largest MAE groups</a:t>
                      </a:r>
                    </a:p>
                  </a:txBody>
                  <a:tcPr marL="91440" marR="91440" marT="45720" marB="45720" anchor="ctr">
                    <a:solidFill>
                      <a:srgbClr val="102238"/>
                    </a:solidFill>
                  </a:tcPr>
                </a:tc>
                <a:tc>
                  <a:txBody>
                    <a:bodyPr lIns="95250" tIns="95250" rIns="95250" bIns="95250"/>
                    <a:lstStyle/>
                    <a:p>
                      <a:r>
                        <a:rPr sz="1725" b="1">
                          <a:solidFill>
                            <a:srgbClr val="FFFFFF"/>
                          </a:solidFill>
                          <a:latin typeface="Arial"/>
                          <a:ea typeface="Arial"/>
                          <a:cs typeface="Arial"/>
                        </a:rPr>
                        <a:t>n</a:t>
                      </a:r>
                    </a:p>
                  </a:txBody>
                  <a:tcPr marL="91440" marR="91440" marT="45720" marB="45720" anchor="ctr">
                    <a:solidFill>
                      <a:srgbClr val="102238"/>
                    </a:solidFill>
                  </a:tcPr>
                </a:tc>
                <a:tc>
                  <a:txBody>
                    <a:bodyPr lIns="95250" tIns="95250" rIns="95250" bIns="95250"/>
                    <a:lstStyle/>
                    <a:p>
                      <a:r>
                        <a:rPr sz="1725" b="1">
                          <a:solidFill>
                            <a:srgbClr val="FFFFFF"/>
                          </a:solidFill>
                          <a:latin typeface="Arial"/>
                          <a:ea typeface="Arial"/>
                          <a:cs typeface="Arial"/>
                        </a:rPr>
                        <a:t>MAE</a:t>
                      </a:r>
                    </a:p>
                  </a:txBody>
                  <a:tcPr marL="91440" marR="91440" marT="45720" marB="45720" anchor="ctr">
                    <a:solidFill>
                      <a:srgbClr val="102238"/>
                    </a:solidFill>
                  </a:tcPr>
                </a:tc>
                <a:tc>
                  <a:txBody>
                    <a:bodyPr lIns="95250" tIns="95250" rIns="95250" bIns="95250"/>
                    <a:lstStyle/>
                    <a:p>
                      <a:r>
                        <a:rPr sz="1725" b="1">
                          <a:solidFill>
                            <a:srgbClr val="FFFFFF"/>
                          </a:solidFill>
                          <a:latin typeface="Arial"/>
                          <a:ea typeface="Arial"/>
                          <a:cs typeface="Arial"/>
                        </a:rPr>
                        <a:t>Bias</a:t>
                      </a:r>
                    </a:p>
                  </a:txBody>
                  <a:tcPr marL="91440" marR="91440" marT="45720" marB="45720" anchor="ctr">
                    <a:solidFill>
                      <a:srgbClr val="102238"/>
                    </a:solidFill>
                  </a:tcPr>
                </a:tc>
              </a:tr>
              <a:tr h="508000">
                <a:tc>
                  <a:txBody>
                    <a:bodyPr lIns="95250" tIns="95250" rIns="95250" bIns="95250"/>
                    <a:lstStyle/>
                    <a:p>
                      <a:r>
                        <a:rPr sz="1725" b="0">
                          <a:solidFill>
                            <a:srgbClr val="102238"/>
                          </a:solidFill>
                          <a:latin typeface="Arial"/>
                          <a:ea typeface="Arial"/>
                          <a:cs typeface="Arial"/>
                        </a:rPr>
                        <a:t>Small wagons</a:t>
                      </a:r>
                    </a:p>
                  </a:txBody>
                  <a:tcPr marL="91440" marR="91440" marT="45720" marB="45720" anchor="ctr">
                    <a:solidFill>
                      <a:srgbClr val="FFFFFF"/>
                    </a:solidFill>
                  </a:tcPr>
                </a:tc>
                <a:tc>
                  <a:txBody>
                    <a:bodyPr lIns="95250" tIns="95250" rIns="95250" bIns="95250"/>
                    <a:lstStyle/>
                    <a:p>
                      <a:r>
                        <a:rPr sz="1725" b="0">
                          <a:solidFill>
                            <a:srgbClr val="102238"/>
                          </a:solidFill>
                          <a:latin typeface="Arial"/>
                          <a:ea typeface="Arial"/>
                          <a:cs typeface="Arial"/>
                        </a:rPr>
                        <a:t>15</a:t>
                      </a:r>
                    </a:p>
                  </a:txBody>
                  <a:tcPr marL="91440" marR="91440" marT="45720" marB="45720" anchor="ctr">
                    <a:solidFill>
                      <a:srgbClr val="FFFFFF"/>
                    </a:solidFill>
                  </a:tcPr>
                </a:tc>
                <a:tc>
                  <a:txBody>
                    <a:bodyPr lIns="95250" tIns="95250" rIns="95250" bIns="95250"/>
                    <a:lstStyle/>
                    <a:p>
                      <a:r>
                        <a:rPr sz="1725" b="0">
                          <a:solidFill>
                            <a:srgbClr val="102238"/>
                          </a:solidFill>
                          <a:latin typeface="Arial"/>
                          <a:ea typeface="Arial"/>
                          <a:cs typeface="Arial"/>
                        </a:rPr>
                        <a:t>1.08</a:t>
                      </a:r>
                    </a:p>
                  </a:txBody>
                  <a:tcPr marL="91440" marR="91440" marT="45720" marB="45720" anchor="ctr">
                    <a:solidFill>
                      <a:srgbClr val="FFFFFF"/>
                    </a:solidFill>
                  </a:tcPr>
                </a:tc>
                <a:tc>
                  <a:txBody>
                    <a:bodyPr lIns="95250" tIns="95250" rIns="95250" bIns="95250"/>
                    <a:lstStyle/>
                    <a:p>
                      <a:r>
                        <a:rPr sz="1725" b="0">
                          <a:solidFill>
                            <a:srgbClr val="102238"/>
                          </a:solidFill>
                          <a:latin typeface="Arial"/>
                          <a:ea typeface="Arial"/>
                          <a:cs typeface="Arial"/>
                        </a:rPr>
                        <a:t>-0.98</a:t>
                      </a:r>
                    </a:p>
                  </a:txBody>
                  <a:tcPr marL="91440" marR="91440" marT="45720" marB="45720" anchor="ctr">
                    <a:solidFill>
                      <a:srgbClr val="FFFFFF"/>
                    </a:solidFill>
                  </a:tcPr>
                </a:tc>
              </a:tr>
              <a:tr h="508000">
                <a:tc>
                  <a:txBody>
                    <a:bodyPr lIns="95250" tIns="95250" rIns="95250" bIns="95250"/>
                    <a:lstStyle/>
                    <a:p>
                      <a:r>
                        <a:rPr sz="1725" b="0">
                          <a:solidFill>
                            <a:srgbClr val="102238"/>
                          </a:solidFill>
                          <a:latin typeface="Arial"/>
                          <a:ea typeface="Arial"/>
                          <a:cs typeface="Arial"/>
                        </a:rPr>
                        <a:t>Standard SUV 4WD</a:t>
                      </a:r>
                    </a:p>
                  </a:txBody>
                  <a:tcPr marL="91440" marR="91440" marT="45720" marB="45720" anchor="ctr">
                    <a:solidFill>
                      <a:srgbClr val="FFFFFF"/>
                    </a:solidFill>
                  </a:tcPr>
                </a:tc>
                <a:tc>
                  <a:txBody>
                    <a:bodyPr lIns="95250" tIns="95250" rIns="95250" bIns="95250"/>
                    <a:lstStyle/>
                    <a:p>
                      <a:r>
                        <a:rPr sz="1725" b="0">
                          <a:solidFill>
                            <a:srgbClr val="102238"/>
                          </a:solidFill>
                          <a:latin typeface="Arial"/>
                          <a:ea typeface="Arial"/>
                          <a:cs typeface="Arial"/>
                        </a:rPr>
                        <a:t>34</a:t>
                      </a:r>
                    </a:p>
                  </a:txBody>
                  <a:tcPr marL="91440" marR="91440" marT="45720" marB="45720" anchor="ctr">
                    <a:solidFill>
                      <a:srgbClr val="FFFFFF"/>
                    </a:solidFill>
                  </a:tcPr>
                </a:tc>
                <a:tc>
                  <a:txBody>
                    <a:bodyPr lIns="95250" tIns="95250" rIns="95250" bIns="95250"/>
                    <a:lstStyle/>
                    <a:p>
                      <a:r>
                        <a:rPr sz="1725" b="0">
                          <a:solidFill>
                            <a:srgbClr val="102238"/>
                          </a:solidFill>
                          <a:latin typeface="Arial"/>
                          <a:ea typeface="Arial"/>
                          <a:cs typeface="Arial"/>
                        </a:rPr>
                        <a:t>1.03</a:t>
                      </a:r>
                    </a:p>
                  </a:txBody>
                  <a:tcPr marL="91440" marR="91440" marT="45720" marB="45720" anchor="ctr">
                    <a:solidFill>
                      <a:srgbClr val="FFFFFF"/>
                    </a:solidFill>
                  </a:tcPr>
                </a:tc>
                <a:tc>
                  <a:txBody>
                    <a:bodyPr lIns="95250" tIns="95250" rIns="95250" bIns="95250"/>
                    <a:lstStyle/>
                    <a:p>
                      <a:r>
                        <a:rPr sz="1725" b="0">
                          <a:solidFill>
                            <a:srgbClr val="102238"/>
                          </a:solidFill>
                          <a:latin typeface="Arial"/>
                          <a:ea typeface="Arial"/>
                          <a:cs typeface="Arial"/>
                        </a:rPr>
                        <a:t>-0.20</a:t>
                      </a:r>
                    </a:p>
                  </a:txBody>
                  <a:tcPr marL="91440" marR="91440" marT="45720" marB="45720" anchor="ctr">
                    <a:solidFill>
                      <a:srgbClr val="FFFFFF"/>
                    </a:solidFill>
                  </a:tcPr>
                </a:tc>
              </a:tr>
              <a:tr h="508000">
                <a:tc>
                  <a:txBody>
                    <a:bodyPr lIns="95250" tIns="95250" rIns="95250" bIns="95250"/>
                    <a:lstStyle/>
                    <a:p>
                      <a:r>
                        <a:rPr sz="1725" b="0">
                          <a:solidFill>
                            <a:srgbClr val="102238"/>
                          </a:solidFill>
                          <a:latin typeface="Arial"/>
                          <a:ea typeface="Arial"/>
                          <a:cs typeface="Arial"/>
                        </a:rPr>
                        <a:t>Two Seaters</a:t>
                      </a:r>
                    </a:p>
                  </a:txBody>
                  <a:tcPr marL="91440" marR="91440" marT="45720" marB="45720" anchor="ctr">
                    <a:solidFill>
                      <a:srgbClr val="FFFFFF"/>
                    </a:solidFill>
                  </a:tcPr>
                </a:tc>
                <a:tc>
                  <a:txBody>
                    <a:bodyPr lIns="95250" tIns="95250" rIns="95250" bIns="95250"/>
                    <a:lstStyle/>
                    <a:p>
                      <a:r>
                        <a:rPr sz="1725" b="0">
                          <a:solidFill>
                            <a:srgbClr val="102238"/>
                          </a:solidFill>
                          <a:latin typeface="Arial"/>
                          <a:ea typeface="Arial"/>
                          <a:cs typeface="Arial"/>
                        </a:rPr>
                        <a:t>82</a:t>
                      </a:r>
                    </a:p>
                  </a:txBody>
                  <a:tcPr marL="91440" marR="91440" marT="45720" marB="45720" anchor="ctr">
                    <a:solidFill>
                      <a:srgbClr val="FFFFFF"/>
                    </a:solidFill>
                  </a:tcPr>
                </a:tc>
                <a:tc>
                  <a:txBody>
                    <a:bodyPr lIns="95250" tIns="95250" rIns="95250" bIns="95250"/>
                    <a:lstStyle/>
                    <a:p>
                      <a:r>
                        <a:rPr sz="1725" b="0">
                          <a:solidFill>
                            <a:srgbClr val="102238"/>
                          </a:solidFill>
                          <a:latin typeface="Arial"/>
                          <a:ea typeface="Arial"/>
                          <a:cs typeface="Arial"/>
                        </a:rPr>
                        <a:t>0.94</a:t>
                      </a:r>
                    </a:p>
                  </a:txBody>
                  <a:tcPr marL="91440" marR="91440" marT="45720" marB="45720" anchor="ctr">
                    <a:solidFill>
                      <a:srgbClr val="FFFFFF"/>
                    </a:solidFill>
                  </a:tcPr>
                </a:tc>
                <a:tc>
                  <a:txBody>
                    <a:bodyPr lIns="95250" tIns="95250" rIns="95250" bIns="95250"/>
                    <a:lstStyle/>
                    <a:p>
                      <a:r>
                        <a:rPr sz="1725" b="0">
                          <a:solidFill>
                            <a:srgbClr val="102238"/>
                          </a:solidFill>
                          <a:latin typeface="Arial"/>
                          <a:ea typeface="Arial"/>
                          <a:cs typeface="Arial"/>
                        </a:rPr>
                        <a:t>-0.21</a:t>
                      </a:r>
                    </a:p>
                  </a:txBody>
                  <a:tcPr marL="91440" marR="91440" marT="45720" marB="45720" anchor="ctr">
                    <a:solidFill>
                      <a:srgbClr val="FFFFFF"/>
                    </a:solidFill>
                  </a:tcPr>
                </a:tc>
              </a:tr>
              <a:tr h="508000">
                <a:tc>
                  <a:txBody>
                    <a:bodyPr lIns="95250" tIns="95250" rIns="95250" bIns="95250"/>
                    <a:lstStyle/>
                    <a:p>
                      <a:r>
                        <a:rPr sz="1725" b="0">
                          <a:solidFill>
                            <a:srgbClr val="102238"/>
                          </a:solidFill>
                          <a:latin typeface="Arial"/>
                          <a:ea typeface="Arial"/>
                          <a:cs typeface="Arial"/>
                        </a:rPr>
                        <a:t>Minicompact cars</a:t>
                      </a:r>
                    </a:p>
                  </a:txBody>
                  <a:tcPr marL="91440" marR="91440" marT="45720" marB="45720" anchor="ctr">
                    <a:solidFill>
                      <a:srgbClr val="FFFFFF"/>
                    </a:solidFill>
                  </a:tcPr>
                </a:tc>
                <a:tc>
                  <a:txBody>
                    <a:bodyPr lIns="95250" tIns="95250" rIns="95250" bIns="95250"/>
                    <a:lstStyle/>
                    <a:p>
                      <a:r>
                        <a:rPr sz="1725" b="0">
                          <a:solidFill>
                            <a:srgbClr val="102238"/>
                          </a:solidFill>
                          <a:latin typeface="Arial"/>
                          <a:ea typeface="Arial"/>
                          <a:cs typeface="Arial"/>
                        </a:rPr>
                        <a:t>69</a:t>
                      </a:r>
                    </a:p>
                  </a:txBody>
                  <a:tcPr marL="91440" marR="91440" marT="45720" marB="45720" anchor="ctr">
                    <a:solidFill>
                      <a:srgbClr val="FFFFFF"/>
                    </a:solidFill>
                  </a:tcPr>
                </a:tc>
                <a:tc>
                  <a:txBody>
                    <a:bodyPr lIns="95250" tIns="95250" rIns="95250" bIns="95250"/>
                    <a:lstStyle/>
                    <a:p>
                      <a:r>
                        <a:rPr sz="1725" b="0">
                          <a:solidFill>
                            <a:srgbClr val="102238"/>
                          </a:solidFill>
                          <a:latin typeface="Arial"/>
                          <a:ea typeface="Arial"/>
                          <a:cs typeface="Arial"/>
                        </a:rPr>
                        <a:t>0.76</a:t>
                      </a:r>
                    </a:p>
                  </a:txBody>
                  <a:tcPr marL="91440" marR="91440" marT="45720" marB="45720" anchor="ctr">
                    <a:solidFill>
                      <a:srgbClr val="FFFFFF"/>
                    </a:solidFill>
                  </a:tcPr>
                </a:tc>
                <a:tc>
                  <a:txBody>
                    <a:bodyPr lIns="95250" tIns="95250" rIns="95250" bIns="95250"/>
                    <a:lstStyle/>
                    <a:p>
                      <a:r>
                        <a:rPr sz="1725" b="0">
                          <a:solidFill>
                            <a:srgbClr val="102238"/>
                          </a:solidFill>
                          <a:latin typeface="Arial"/>
                          <a:ea typeface="Arial"/>
                          <a:cs typeface="Arial"/>
                        </a:rPr>
                        <a:t>-0.62</a:t>
                      </a:r>
                    </a:p>
                  </a:txBody>
                  <a:tcPr marL="91440" marR="91440" marT="45720" marB="45720" anchor="ctr">
                    <a:solidFill>
                      <a:srgbClr val="FFFFFF"/>
                    </a:solidFill>
                  </a:tcPr>
                </a:tc>
              </a:tr>
              <a:tr h="508000">
                <a:tc>
                  <a:txBody>
                    <a:bodyPr lIns="95250" tIns="95250" rIns="95250" bIns="95250"/>
                    <a:lstStyle/>
                    <a:p>
                      <a:r>
                        <a:rPr sz="1725" b="0">
                          <a:solidFill>
                            <a:srgbClr val="102238"/>
                          </a:solidFill>
                          <a:latin typeface="Arial"/>
                          <a:ea typeface="Arial"/>
                          <a:cs typeface="Arial"/>
                        </a:rPr>
                        <a:t>Small SUV 2WD</a:t>
                      </a:r>
                    </a:p>
                  </a:txBody>
                  <a:tcPr marL="91440" marR="91440" marT="45720" marB="45720" anchor="ctr">
                    <a:solidFill>
                      <a:srgbClr val="FFFFFF"/>
                    </a:solidFill>
                  </a:tcPr>
                </a:tc>
                <a:tc>
                  <a:txBody>
                    <a:bodyPr lIns="95250" tIns="95250" rIns="95250" bIns="95250"/>
                    <a:lstStyle/>
                    <a:p>
                      <a:r>
                        <a:rPr sz="1725" b="0">
                          <a:solidFill>
                            <a:srgbClr val="102238"/>
                          </a:solidFill>
                          <a:latin typeface="Arial"/>
                          <a:ea typeface="Arial"/>
                          <a:cs typeface="Arial"/>
                        </a:rPr>
                        <a:t>38</a:t>
                      </a:r>
                    </a:p>
                  </a:txBody>
                  <a:tcPr marL="91440" marR="91440" marT="45720" marB="45720" anchor="ctr">
                    <a:solidFill>
                      <a:srgbClr val="FFFFFF"/>
                    </a:solidFill>
                  </a:tcPr>
                </a:tc>
                <a:tc>
                  <a:txBody>
                    <a:bodyPr lIns="95250" tIns="95250" rIns="95250" bIns="95250"/>
                    <a:lstStyle/>
                    <a:p>
                      <a:r>
                        <a:rPr sz="1725" b="0">
                          <a:solidFill>
                            <a:srgbClr val="102238"/>
                          </a:solidFill>
                          <a:latin typeface="Arial"/>
                          <a:ea typeface="Arial"/>
                          <a:cs typeface="Arial"/>
                        </a:rPr>
                        <a:t>0.75</a:t>
                      </a:r>
                    </a:p>
                  </a:txBody>
                  <a:tcPr marL="91440" marR="91440" marT="45720" marB="45720" anchor="ctr">
                    <a:solidFill>
                      <a:srgbClr val="FFFFFF"/>
                    </a:solidFill>
                  </a:tcPr>
                </a:tc>
                <a:tc>
                  <a:txBody>
                    <a:bodyPr lIns="95250" tIns="95250" rIns="95250" bIns="95250"/>
                    <a:lstStyle/>
                    <a:p>
                      <a:r>
                        <a:rPr sz="1725" b="0">
                          <a:solidFill>
                            <a:srgbClr val="102238"/>
                          </a:solidFill>
                          <a:latin typeface="Arial"/>
                          <a:ea typeface="Arial"/>
                          <a:cs typeface="Arial"/>
                        </a:rPr>
                        <a:t>0.36</a:t>
                      </a:r>
                    </a:p>
                  </a:txBody>
                  <a:tcPr marL="91440" marR="91440" marT="45720" marB="45720" anchor="ctr">
                    <a:solidFill>
                      <a:srgbClr val="FFFFFF"/>
                    </a:solidFill>
                  </a:tcPr>
                </a:tc>
              </a:tr>
            </a:tbl>
          </a:graphicData>
        </a:graphic>
      </p:graphicFrame>
      <p:sp>
        <p:nvSpPr>
          <p:cNvPr id="6" name="subgroup-support">
            <a:extLst xmlns:a="http://schemas.openxmlformats.org/drawingml/2006/main">
              <a:ext uri="{FF2B5EF4-FFF2-40B4-BE49-F238E27FC236}">
                <a16:creationId xmlns:a16="http://schemas.microsoft.com/office/drawing/2014/main" id="{175FD7D7-A250-4126-BA7C-792436CB67AC}"/>
              </a:ext>
            </a:extLst>
          </p:cNvPr>
          <p:cNvSpPr>
            <a:spLocks xmlns:a="http://schemas.openxmlformats.org/drawingml/2006/main" noGrp="1"/>
          </p:cNvSpPr>
          <p:nvPr/>
        </p:nvSpPr>
        <p:spPr>
          <a:xfrm xmlns:a="http://schemas.openxmlformats.org/drawingml/2006/main">
            <a:off x="609600" y="5038725"/>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579"/>
                </a:solidFill>
                <a:latin typeface="Arial"/>
                <a:ea typeface="Arial"/>
                <a:cs typeface="Arial"/>
              </a:defRPr>
            </a:defPPr>
          </a:lstStyle>
          <a:p xmlns:a="http://schemas.openxmlformats.org/drawingml/2006/main">
            <a:pPr algn="l">
              <a:buNone/>
              <a:defRPr sz="1875" b="0">
                <a:solidFill>
                  <a:srgbClr val="526579"/>
                </a:solidFill>
                <a:latin typeface="Arial"/>
                <a:ea typeface="Arial"/>
                <a:cs typeface="Arial"/>
              </a:defRPr>
            </a:pPr>
            <a:r>
              <a:rPr sz="1875" b="0">
                <a:solidFill>
                  <a:srgbClr val="526579"/>
                </a:solidFill>
                <a:latin typeface="Arial"/>
                <a:ea typeface="Arial"/>
                <a:cs typeface="Arial"/>
              </a:rPr>
              <a:t>Selected model: Linear regression. Groups with n &lt; 30 have limited support.</a:t>
            </a:r>
          </a:p>
          <a:p xmlns:a="http://schemas.openxmlformats.org/drawingml/2006/main">
            <a:pPr algn="l">
              <a:buNone/>
              <a:defRPr sz="1875" b="0">
                <a:solidFill>
                  <a:srgbClr val="526579"/>
                </a:solidFill>
                <a:latin typeface="Arial"/>
                <a:ea typeface="Arial"/>
                <a:cs typeface="Arial"/>
              </a:defRPr>
            </a:pPr>
            <a:r>
              <a:rPr sz="1875" b="0">
                <a:solidFill>
                  <a:srgbClr val="526579"/>
                </a:solidFill>
                <a:latin typeface="Arial"/>
                <a:ea typeface="Arial"/>
                <a:cs typeface="Arial"/>
              </a:rPr>
              <a:t>Bias = predicted consumption minus actual consumption.</a:t>
            </a:r>
          </a:p>
        </p:txBody>
      </p:sp>
      <p:sp>
        <p:nvSpPr>
          <p:cNvPr id="7" name="large-error">
            <a:extLst xmlns:a="http://schemas.openxmlformats.org/drawingml/2006/main">
              <a:ext uri="{FF2B5EF4-FFF2-40B4-BE49-F238E27FC236}">
                <a16:creationId xmlns:a16="http://schemas.microsoft.com/office/drawing/2014/main" id="{1D7BC75D-A55A-437A-80E8-2CAFFB3BAA6E}"/>
              </a:ext>
            </a:extLst>
          </p:cNvPr>
          <p:cNvSpPr>
            <a:spLocks xmlns:a="http://schemas.openxmlformats.org/drawingml/2006/main" noGrp="1"/>
          </p:cNvSpPr>
          <p:nvPr/>
        </p:nvSpPr>
        <p:spPr>
          <a:xfrm xmlns:a="http://schemas.openxmlformats.org/drawingml/2006/main">
            <a:off x="609600" y="5819775"/>
            <a:ext cx="10906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02238"/>
                </a:solidFill>
                <a:latin typeface="Arial"/>
                <a:ea typeface="Arial"/>
                <a:cs typeface="Arial"/>
              </a:defRPr>
            </a:defPPr>
          </a:lstStyle>
          <a:p xmlns:a="http://schemas.openxmlformats.org/drawingml/2006/main">
            <a:pPr algn="l">
              <a:buNone/>
              <a:defRPr sz="1800" b="0">
                <a:solidFill>
                  <a:srgbClr val="102238"/>
                </a:solidFill>
                <a:latin typeface="Arial"/>
                <a:ea typeface="Arial"/>
                <a:cs typeface="Arial"/>
              </a:defRPr>
            </a:pPr>
            <a:r>
              <a:rPr sz="1800" b="0">
                <a:solidFill>
                  <a:srgbClr val="102238"/>
                </a:solidFill>
                <a:latin typeface="Arial"/>
                <a:ea typeface="Arial"/>
                <a:cs typeface="Arial"/>
              </a:rPr>
              <a:t>Largest test error: 2017 Aston Martin V12 Vantage S, ID 38135</a:t>
            </a:r>
          </a:p>
          <a:p xmlns:a="http://schemas.openxmlformats.org/drawingml/2006/main">
            <a:pPr algn="l">
              <a:buNone/>
              <a:defRPr sz="1800" b="0">
                <a:solidFill>
                  <a:srgbClr val="102238"/>
                </a:solidFill>
                <a:latin typeface="Arial"/>
                <a:ea typeface="Arial"/>
                <a:cs typeface="Arial"/>
              </a:defRPr>
            </a:pPr>
            <a:r>
              <a:rPr sz="1800" b="0">
                <a:solidFill>
                  <a:srgbClr val="102238"/>
                </a:solidFill>
                <a:latin typeface="Arial"/>
                <a:ea typeface="Arial"/>
                <a:cs typeface="Arial"/>
              </a:rPr>
              <a:t>Actual 19.60, predicted 15.97, absolute error 3.63 L/100 km</a:t>
            </a:r>
          </a:p>
        </p:txBody>
      </p:sp>
      <p:graphicFrame>
        <p:nvGraphicFramePr>
          <p:cNvPr id="9" name="Chart">
            <a:extLst xmlns:a="http://schemas.openxmlformats.org/drawingml/2006/main">
              <a:ext uri="{FF2B5EF4-FFF2-40B4-BE49-F238E27FC236}">
                <a16:creationId xmlns:a16="http://schemas.microsoft.com/office/drawing/2014/main" id="{99A72073-AE60-43F9-8F34-19A011549F74}"/>
              </a:ext>
            </a:extLst>
          </p:cNvPr>
          <p:cNvGraphicFramePr/>
          <p:nvPr/>
        </p:nvGraphicFramePr>
        <p:xfrm>
          <a:off xmlns:a="http://schemas.openxmlformats.org/drawingml/2006/main" x="7429500" y="1657350"/>
          <a:ext xmlns:a="http://schemas.openxmlformats.org/drawingml/2006/main" cx="4143375" cy="3000375"/>
        </p:xfrm>
        <a:graphic xmlns:a="http://schemas.openxmlformats.org/drawingml/2006/main">
          <a:graphicData uri="http://schemas.openxmlformats.org/drawingml/2006/chart">
            <c:chart xmlns:r="http://schemas.openxmlformats.org/officeDocument/2006/relationships" xmlns:c="http://schemas.openxmlformats.org/drawingml/2006/chart" r:id="Rd99e967226ef431e"/>
          </a:graphicData>
        </a:graphic>
      </p:graphicFrame>
    </p:spTree>
    <p:extLst>
      <p:ext uri="{BB962C8B-B14F-4D97-AF65-F5344CB8AC3E}">
        <p14:creationId xmlns:p14="http://schemas.microsoft.com/office/powerpoint/2010/main" val="2884748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3771D832-DBAA-49E7-BD1F-6BCD6330646A}"/>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2238"/>
                </a:solidFill>
                <a:latin typeface="Arial"/>
                <a:ea typeface="Arial"/>
                <a:cs typeface="Arial"/>
              </a:defRPr>
            </a:defPPr>
          </a:lstStyle>
          <a:p xmlns:a="http://schemas.openxmlformats.org/drawingml/2006/main">
            <a:pPr algn="l">
              <a:buNone/>
              <a:defRPr sz="3300" b="1">
                <a:solidFill>
                  <a:srgbClr val="102238"/>
                </a:solidFill>
                <a:latin typeface="Arial"/>
                <a:ea typeface="Arial"/>
                <a:cs typeface="Arial"/>
              </a:defRPr>
            </a:pPr>
            <a:r>
              <a:rPr sz="3300" b="1">
                <a:solidFill>
                  <a:srgbClr val="102238"/>
                </a:solidFill>
                <a:latin typeface="Arial"/>
                <a:ea typeface="Arial"/>
                <a:cs typeface="Arial"/>
              </a:rPr>
              <a:t>Conclusion and next stages</a:t>
            </a:r>
          </a:p>
        </p:txBody>
      </p:sp>
      <p:sp>
        <p:nvSpPr>
          <p:cNvPr id="2" name="footer">
            <a:extLst xmlns:a="http://schemas.openxmlformats.org/drawingml/2006/main">
              <a:ext uri="{FF2B5EF4-FFF2-40B4-BE49-F238E27FC236}">
                <a16:creationId xmlns:a16="http://schemas.microsoft.com/office/drawing/2014/main" id="{2858F7F3-5B56-43F3-95E6-20033A34DD10}"/>
              </a:ext>
            </a:extLst>
          </p:cNvPr>
          <p:cNvSpPr>
            <a:spLocks xmlns:a="http://schemas.openxmlformats.org/drawingml/2006/main" noGrp="1"/>
          </p:cNvSpPr>
          <p:nvPr/>
        </p:nvSpPr>
        <p:spPr>
          <a:xfrm xmlns:a="http://schemas.openxmlformats.org/drawingml/2006/main">
            <a:off x="609600" y="647700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26579"/>
                </a:solidFill>
                <a:latin typeface="Arial"/>
                <a:ea typeface="Arial"/>
                <a:cs typeface="Arial"/>
              </a:defRPr>
            </a:defPPr>
          </a:lstStyle>
          <a:p xmlns:a="http://schemas.openxmlformats.org/drawingml/2006/main">
            <a:pPr algn="l">
              <a:buNone/>
              <a:defRPr sz="1200" b="0">
                <a:solidFill>
                  <a:srgbClr val="526579"/>
                </a:solidFill>
                <a:latin typeface="Arial"/>
                <a:ea typeface="Arial"/>
                <a:cs typeface="Arial"/>
              </a:defRPr>
            </a:pPr>
            <a:r>
              <a:rPr sz="1200" b="0">
                <a:solidFill>
                  <a:srgbClr val="526579"/>
                </a:solidFill>
                <a:latin typeface="Arial"/>
                <a:ea typeface="Arial"/>
                <a:cs typeface="Arial"/>
              </a:rPr>
              <a:t>SE-2421   EPA combined consumption   benchmark_2015_2025_20261009</a:t>
            </a:r>
          </a:p>
        </p:txBody>
      </p:sp>
      <p:sp>
        <p:nvSpPr>
          <p:cNvPr id="3" name="page-number">
            <a:extLst xmlns:a="http://schemas.openxmlformats.org/drawingml/2006/main">
              <a:ext uri="{FF2B5EF4-FFF2-40B4-BE49-F238E27FC236}">
                <a16:creationId xmlns:a16="http://schemas.microsoft.com/office/drawing/2014/main" id="{68749975-D76C-4333-9301-68788C306D77}"/>
              </a:ext>
            </a:extLst>
          </p:cNvPr>
          <p:cNvSpPr>
            <a:spLocks xmlns:a="http://schemas.openxmlformats.org/drawingml/2006/main" noGrp="1"/>
          </p:cNvSpPr>
          <p:nvPr/>
        </p:nvSpPr>
        <p:spPr>
          <a:xfrm xmlns:a="http://schemas.openxmlformats.org/drawingml/2006/main">
            <a:off x="11182350" y="647700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Arial"/>
                <a:ea typeface="Arial"/>
                <a:cs typeface="Arial"/>
              </a:defRPr>
            </a:defPPr>
          </a:lstStyle>
          <a:p xmlns:a="http://schemas.openxmlformats.org/drawingml/2006/main">
            <a:pPr algn="r">
              <a:buNone/>
              <a:defRPr sz="1200" b="0">
                <a:solidFill>
                  <a:srgbClr val="526579"/>
                </a:solidFill>
                <a:latin typeface="Arial"/>
                <a:ea typeface="Arial"/>
                <a:cs typeface="Arial"/>
              </a:defRPr>
            </a:pPr>
            <a:r>
              <a:rPr sz="1200" b="0">
                <a:solidFill>
                  <a:srgbClr val="526579"/>
                </a:solidFill>
                <a:latin typeface="Arial"/>
                <a:ea typeface="Arial"/>
                <a:cs typeface="Arial"/>
              </a:rPr>
              <a:t>8/8</a:t>
            </a:r>
          </a:p>
        </p:txBody>
      </p:sp>
      <p:sp>
        <p:nvSpPr>
          <p:cNvPr id="4" name="main-conclusion">
            <a:extLst xmlns:a="http://schemas.openxmlformats.org/drawingml/2006/main">
              <a:ext uri="{FF2B5EF4-FFF2-40B4-BE49-F238E27FC236}">
                <a16:creationId xmlns:a16="http://schemas.microsoft.com/office/drawing/2014/main" id="{8215EDA2-6720-4981-A493-BFF9AAB45A57}"/>
              </a:ext>
            </a:extLst>
          </p:cNvPr>
          <p:cNvSpPr>
            <a:spLocks xmlns:a="http://schemas.openxmlformats.org/drawingml/2006/main" noGrp="1"/>
          </p:cNvSpPr>
          <p:nvPr/>
        </p:nvSpPr>
        <p:spPr>
          <a:xfrm xmlns:a="http://schemas.openxmlformats.org/drawingml/2006/main">
            <a:off x="609600" y="1552575"/>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087D9A"/>
                </a:solidFill>
                <a:latin typeface="Arial"/>
                <a:ea typeface="Arial"/>
                <a:cs typeface="Arial"/>
              </a:defRPr>
            </a:defPPr>
          </a:lstStyle>
          <a:p xmlns:a="http://schemas.openxmlformats.org/drawingml/2006/main">
            <a:pPr algn="l">
              <a:buNone/>
              <a:defRPr sz="2625" b="1">
                <a:solidFill>
                  <a:srgbClr val="087D9A"/>
                </a:solidFill>
                <a:latin typeface="Arial"/>
                <a:ea typeface="Arial"/>
                <a:cs typeface="Arial"/>
              </a:defRPr>
            </a:pPr>
            <a:r>
              <a:rPr sz="2625" b="1">
                <a:solidFill>
                  <a:srgbClr val="087D9A"/>
                </a:solidFill>
                <a:latin typeface="Arial"/>
                <a:ea typeface="Arial"/>
                <a:cs typeface="Arial"/>
              </a:rPr>
              <a:t>Linear regression: test MAE 0.714 L/100 km</a:t>
            </a:r>
          </a:p>
        </p:txBody>
      </p:sp>
      <p:sp>
        <p:nvSpPr>
          <p:cNvPr id="5" name="limits">
            <a:extLst xmlns:a="http://schemas.openxmlformats.org/drawingml/2006/main">
              <a:ext uri="{FF2B5EF4-FFF2-40B4-BE49-F238E27FC236}">
                <a16:creationId xmlns:a16="http://schemas.microsoft.com/office/drawing/2014/main" id="{4F37BEA1-DB15-4727-AD33-974CED32C44E}"/>
              </a:ext>
            </a:extLst>
          </p:cNvPr>
          <p:cNvSpPr>
            <a:spLocks xmlns:a="http://schemas.openxmlformats.org/drawingml/2006/main" noGrp="1"/>
          </p:cNvSpPr>
          <p:nvPr/>
        </p:nvSpPr>
        <p:spPr>
          <a:xfrm xmlns:a="http://schemas.openxmlformats.org/drawingml/2006/main">
            <a:off x="609600" y="2676525"/>
            <a:ext cx="6238875" cy="1819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02238"/>
                </a:solidFill>
                <a:latin typeface="Arial"/>
                <a:ea typeface="Arial"/>
                <a:cs typeface="Arial"/>
              </a:defRPr>
            </a:defPPr>
          </a:lstStyle>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Limits</a:t>
            </a:r>
          </a:p>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EPA estimates and rounded target values</a:t>
            </a:r>
          </a:p>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Bounded configurations, no sales weighting</a:t>
            </a:r>
          </a:p>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Unseen families rather than future-year forecasting</a:t>
            </a:r>
          </a:p>
        </p:txBody>
      </p:sp>
      <p:sp>
        <p:nvSpPr>
          <p:cNvPr id="6" name="roadmap">
            <a:extLst xmlns:a="http://schemas.openxmlformats.org/drawingml/2006/main">
              <a:ext uri="{FF2B5EF4-FFF2-40B4-BE49-F238E27FC236}">
                <a16:creationId xmlns:a16="http://schemas.microsoft.com/office/drawing/2014/main" id="{AF0F2B60-8D7F-4477-ABFD-2FEBF62FCD1A}"/>
              </a:ext>
            </a:extLst>
          </p:cNvPr>
          <p:cNvSpPr>
            <a:spLocks xmlns:a="http://schemas.openxmlformats.org/drawingml/2006/main" noGrp="1"/>
          </p:cNvSpPr>
          <p:nvPr/>
        </p:nvSpPr>
        <p:spPr>
          <a:xfrm xmlns:a="http://schemas.openxmlformats.org/drawingml/2006/main">
            <a:off x="7305675" y="2657475"/>
            <a:ext cx="4276725"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02238"/>
                </a:solidFill>
                <a:latin typeface="Arial"/>
                <a:ea typeface="Arial"/>
                <a:cs typeface="Arial"/>
              </a:defRPr>
            </a:defPPr>
          </a:lstStyle>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Endterm</a:t>
            </a:r>
          </a:p>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Ensemble tuning, clustering, PCA and a neural network</a:t>
            </a:r>
          </a:p>
          <a:p xmlns:a="http://schemas.openxmlformats.org/drawingml/2006/main">
            <a:r>
              <a:t/>
            </a:r>
          </a:p>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Final</a:t>
            </a:r>
          </a:p>
          <a:p xmlns:a="http://schemas.openxmlformats.org/drawingml/2006/main">
            <a:pPr algn="l">
              <a:buNone/>
              <a:defRPr sz="2025" b="0">
                <a:solidFill>
                  <a:srgbClr val="102238"/>
                </a:solidFill>
                <a:latin typeface="Arial"/>
                <a:ea typeface="Arial"/>
                <a:cs typeface="Arial"/>
              </a:defRPr>
            </a:pPr>
            <a:r>
              <a:rPr sz="2025" b="0">
                <a:solidFill>
                  <a:srgbClr val="102238"/>
                </a:solidFill>
                <a:latin typeface="Arial"/>
                <a:ea typeface="Arial"/>
                <a:cs typeface="Arial"/>
              </a:rPr>
              <a:t>Model and engine text comparison, local prediction app</a:t>
            </a:r>
          </a:p>
        </p:txBody>
      </p:sp>
      <p:sp>
        <p:nvSpPr>
          <p:cNvPr id="7" name="attribution">
            <a:extLst xmlns:a="http://schemas.openxmlformats.org/drawingml/2006/main">
              <a:ext uri="{FF2B5EF4-FFF2-40B4-BE49-F238E27FC236}">
                <a16:creationId xmlns:a16="http://schemas.microsoft.com/office/drawing/2014/main" id="{31C5D880-0354-4B44-A136-A599EAB1D375}"/>
              </a:ext>
            </a:extLst>
          </p:cNvPr>
          <p:cNvSpPr>
            <a:spLocks xmlns:a="http://schemas.openxmlformats.org/drawingml/2006/main" noGrp="1"/>
          </p:cNvSpPr>
          <p:nvPr/>
        </p:nvSpPr>
        <p:spPr>
          <a:xfrm xmlns:a="http://schemas.openxmlformats.org/drawingml/2006/main">
            <a:off x="609600" y="5324475"/>
            <a:ext cx="10953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26579"/>
                </a:solidFill>
                <a:latin typeface="Arial"/>
                <a:ea typeface="Arial"/>
                <a:cs typeface="Arial"/>
              </a:defRPr>
            </a:defPPr>
          </a:lstStyle>
          <a:p xmlns:a="http://schemas.openxmlformats.org/drawingml/2006/main">
            <a:pPr algn="l">
              <a:buNone/>
              <a:defRPr sz="1950" b="0">
                <a:solidFill>
                  <a:srgbClr val="526579"/>
                </a:solidFill>
                <a:latin typeface="Arial"/>
                <a:ea typeface="Arial"/>
                <a:cs typeface="Arial"/>
              </a:defRPr>
            </a:pPr>
            <a:r>
              <a:rPr sz="1950" b="0">
                <a:solidFill>
                  <a:srgbClr val="526579"/>
                </a:solidFill>
                <a:latin typeface="Arial"/>
                <a:ea typeface="Arial"/>
                <a:cs typeface="Arial"/>
              </a:rPr>
              <a:t>Project areas: Nikita, data collection. Bakytzhan, modeling and analysis.</a:t>
            </a:r>
          </a:p>
          <a:p xmlns:a="http://schemas.openxmlformats.org/drawingml/2006/main">
            <a:pPr algn="l">
              <a:buNone/>
              <a:defRPr sz="1950" b="0">
                <a:solidFill>
                  <a:srgbClr val="526579"/>
                </a:solidFill>
                <a:latin typeface="Arial"/>
                <a:ea typeface="Arial"/>
                <a:cs typeface="Arial"/>
              </a:defRPr>
            </a:pPr>
            <a:r>
              <a:rPr sz="1950" b="0">
                <a:solidFill>
                  <a:srgbClr val="526579"/>
                </a:solidFill>
                <a:latin typeface="Arial"/>
                <a:ea typeface="Arial"/>
                <a:cs typeface="Arial"/>
              </a:rPr>
              <a:t>AI assistance: OpenAI Codex.</a:t>
            </a:r>
          </a:p>
        </p:txBody>
      </p:sp>
    </p:spTree>
    <p:extLst>
      <p:ext uri="{BB962C8B-B14F-4D97-AF65-F5344CB8AC3E}">
        <p14:creationId xmlns:p14="http://schemas.microsoft.com/office/powerpoint/2010/main" val="3662464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2026-10-09T03:05:44.2480000Z</dcterms:created>
  <dcterms:modified xsi:type="dcterms:W3CDTF">2026-10-09T03:05:44.2490000Z</dcterms:modified>
</coreProperties>
</file>